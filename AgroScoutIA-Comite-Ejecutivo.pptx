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2194560"/>
          </a:xfrm>
          <a:prstGeom prst="rect">
            <a:avLst/>
          </a:prstGeom>
          <a:solidFill>
            <a:srgbClr val="2EA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94560"/>
            <a:ext cx="201168" cy="2377440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201168" cy="2286000"/>
          </a:xfrm>
          <a:prstGeom prst="rect">
            <a:avLst/>
          </a:prstGeom>
          <a:solidFill>
            <a:srgbClr val="0A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0" y="822960"/>
            <a:ext cx="2926080" cy="2926080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89136" y="1078992"/>
            <a:ext cx="2724912" cy="2724912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00032" y="1335024"/>
            <a:ext cx="2523744" cy="2523744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10928" y="1591056"/>
            <a:ext cx="2322576" cy="2322576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21824" y="1847088"/>
            <a:ext cx="2121408" cy="2121408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2103120"/>
            <a:ext cx="1920240" cy="1920240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9164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A466"/>
                </a:solidFill>
                <a:latin typeface="Segoe UI"/>
              </a:rPr>
              <a:t>CITEAGROINDUSTRIAL CHAVIMOCHIC  ·  LA LIBERTAD, PERÚ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21408"/>
            <a:ext cx="8595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Segoe UI"/>
              </a:rPr>
              <a:t>AgroScout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27248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 i="0">
                <a:solidFill>
                  <a:srgbClr val="C8DAD1"/>
                </a:solidFill>
                <a:latin typeface="Segoe UI"/>
              </a:rPr>
              <a:t>Plataforma de inteligencia de producto para la agroindustria:
qué fabricar con un insumo, quién ya lo vende, a qué precio y con qué norma.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224528"/>
            <a:ext cx="2011680" cy="3200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EA466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FB5"/>
                </a:solidFill>
                <a:latin typeface="Segoe UI"/>
              </a:rPr>
              <a:t>etapas del motor
de evaluación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526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EA466"/>
                </a:solidFill>
                <a:latin typeface="Segoe U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983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FB5"/>
                </a:solidFill>
                <a:latin typeface="Segoe UI"/>
              </a:rPr>
              <a:t>módulos
funcionales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526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EA466"/>
                </a:solidFill>
                <a:latin typeface="Segoe UI"/>
              </a:rPr>
              <a:t>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983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FB5"/>
                </a:solidFill>
                <a:latin typeface="Segoe UI"/>
              </a:rPr>
              <a:t>tiendas en
29 países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5262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EA466"/>
                </a:solidFill>
                <a:latin typeface="Segoe UI"/>
              </a:rPr>
              <a:t>29.054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983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BFB5"/>
                </a:solidFill>
                <a:latin typeface="Segoe UI"/>
              </a:rPr>
              <a:t>productos en el
snapshot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E998C"/>
                </a:solidFill>
                <a:latin typeface="Segoe UI"/>
              </a:rPr>
              <a:t>Comité Ejecutivo  ·  Agosto 2026  ·  Documento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DÓNDE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Tres mensajes para el comité. Todo lo que sigue en este documento los desarrolla.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11057839" cy="1298448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002536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47672"/>
            <a:ext cx="95033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21C"/>
                </a:solidFill>
                <a:latin typeface="Segoe UI"/>
              </a:rPr>
              <a:t>El producto existe y corre de punta a punta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13432"/>
            <a:ext cx="95033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A5B53"/>
                </a:solidFill>
                <a:latin typeface="Segoe UI"/>
              </a:rPr>
              <a:t>No es una maqueta. El motor de 6 etapas ejecuta código real de producción sobre datos reales reducidos: 5 insumos piloto de Chavimochic, 29.054 productos indexados y 67 tiendas registradas.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54680"/>
            <a:ext cx="11057839" cy="1298448"/>
          </a:xfrm>
          <a:prstGeom prst="roundRect">
            <a:avLst>
              <a:gd name="adj" fmla="val 6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3465576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10712"/>
            <a:ext cx="95033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21C"/>
                </a:solidFill>
                <a:latin typeface="Segoe UI"/>
              </a:rPr>
              <a:t>El diferenciador es la trazabilidad, no el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76472"/>
            <a:ext cx="95033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A5B53"/>
                </a:solidFill>
                <a:latin typeface="Segoe UI"/>
              </a:rPr>
              <a:t>Cualquiera puede conectar un LLM. Lo que se vende aquí es que ninguna cifra se inventa: cada precio, aditivo y norma lleva fuente, URL y fecha — o sale como «sin dato».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17720"/>
            <a:ext cx="11057839" cy="1298448"/>
          </a:xfrm>
          <a:prstGeom prst="roundRect">
            <a:avLst>
              <a:gd name="adj" fmla="val 6000"/>
            </a:avLst>
          </a:prstGeom>
          <a:solidFill>
            <a:srgbClr val="FDF3E0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4928616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73752"/>
            <a:ext cx="95033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21C"/>
                </a:solidFill>
                <a:latin typeface="Segoe UI"/>
              </a:rPr>
              <a:t>El costo está acotado por diseño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239512"/>
            <a:ext cx="95033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A5B53"/>
                </a:solidFill>
                <a:latin typeface="Segoe UI"/>
              </a:rPr>
              <a:t>El dato comercial se resuelve con conectores deterministas a ~US$0,0001 por consulta. El agente de IA, que cuesta US$0,25 por corrida, solo se activa para los huecos y con tope y kill-switch.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6108192"/>
            <a:ext cx="11057839" cy="457200"/>
          </a:xfrm>
          <a:prstGeom prst="roundRect">
            <a:avLst>
              <a:gd name="adj" fmla="val 8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Lo que se pide al comité:  aprobar el paso de la demo (v2) al release de producción (v3) — 11 semanas, ~US$1.000/mes de infraestructura.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POR QUÉ EXISTE 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El problema y la respuesta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El CITE atiende mipymes, cooperativas y agroexportadoras de palto, espárrago, arándano, mango, piquillo, banano y uva.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272887" cy="416052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2700">
            <a:solidFill>
              <a:srgbClr val="F0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20240"/>
            <a:ext cx="4523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03A30"/>
                </a:solidFill>
                <a:latin typeface="Segoe UI"/>
              </a:rPr>
              <a:t>HOY  ·  SIN LA PLATAFORMA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" y="2404872"/>
            <a:ext cx="50292" cy="146304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331720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El insumo se desperdicia por falta de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606039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Una cooperativa con descarte de espárrago o cáscara de mango no tiene forma fácil de saber qué se fabrica ya con ese insumo en el mundo.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3264408"/>
            <a:ext cx="50292" cy="146304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91256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El laboratorio se gasta en hipótesis repetidas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465575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El desarrollo de producto va por ensayo y error; se ensaya lo que otro ya puso en góndola hace tres años.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" y="4123944"/>
            <a:ext cx="50292" cy="146304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050791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La sorpresa regulatoria llega al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325112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El aditivo que estaba bien en Perú bloquea el contenedor en Rotterdam. Se descubre después de invertir en la formulación.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" y="4983479"/>
            <a:ext cx="50292" cy="146304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910327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La inteligencia de mercado es inaccesible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184647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Un informe Mintel o Trend Hunter está fuera del presupuesto de una mipyme regional — y de buena parte del CITE.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76391" y="3657600"/>
            <a:ext cx="438912" cy="310896"/>
          </a:xfrm>
          <a:prstGeom prst="rightArrow">
            <a:avLst/>
          </a:prstGeom>
          <a:solidFill>
            <a:srgbClr val="2EA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1879" y="1691640"/>
            <a:ext cx="5272887" cy="416052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5927" y="1920240"/>
            <a:ext cx="4523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7A45"/>
                </a:solidFill>
                <a:latin typeface="Segoe UI"/>
              </a:rPr>
              <a:t>CON AGROSCOUT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5927" y="2404872"/>
            <a:ext cx="50292" cy="14630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5383" y="2331720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Una consulta responde qué existe y dónde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383" y="2606039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El usuario escribe el insumo; el sistema devuelve productos reales con marca, país, formato y precio de góndola verificable.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5927" y="3264408"/>
            <a:ext cx="50292" cy="14630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5383" y="3191256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Ingeniería inversa de la formulación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5383" y="3465575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Se analizan en conjunto las listas de ingredientes de los productos hallados y se propone un punto de partida, no una receta.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927" y="4123944"/>
            <a:ext cx="50292" cy="14630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5383" y="4050791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El semáforo regulatorio va antes, no después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5383" y="4325112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Aditivo por aditivo: autorizado en EE. UU., Codex y UE, con límite y cita verificable — y con el límite más estricto para formular una sola vez.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35927" y="4983479"/>
            <a:ext cx="50292" cy="14630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5383" y="4910327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Precio de una suscripción, no de un informe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5383" y="5184647"/>
            <a:ext cx="42944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Fuentes abiertas + conectores propios + taxonomía del CITE, con el costo por consulta medido y visible en el panel.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05332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4A5B53"/>
                </a:solidFill>
                <a:latin typeface="Segoe UI"/>
              </a:rPr>
              <a:t>El cierre sigue siendo humano: la hipótesis ya filtrada baja al laboratorio del CITE para validarse con la materia prima real. Es intencional que sea así.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EL CONTRATO DE CONFIANZA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Los seis principios que rigen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Son restricciones de ingeniería, no eslóganes: cada una tiene una prueba automatizada que la vigila.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346649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3466490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66543"/>
            <a:ext cx="284469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21C"/>
                </a:solidFill>
                <a:latin typeface="Segoe UI"/>
              </a:rPr>
              <a:t>Nada se inventa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15184"/>
            <a:ext cx="2844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Un campo sin dato es null. Nunca un valor plausible.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329184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C8A84"/>
                </a:solidFill>
                <a:latin typeface="Segoe UI"/>
              </a:rPr>
              <a:t>prueba P04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1719072"/>
            <a:ext cx="346649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2602" y="1719072"/>
            <a:ext cx="3466490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066543"/>
            <a:ext cx="284469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21C"/>
                </a:solidFill>
                <a:latin typeface="Segoe UI"/>
              </a:rPr>
              <a:t>Toda afirmación cita su dato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15184"/>
            <a:ext cx="2844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El insight no es opinión del modelo: es lectura de una fila entregada, con su URL.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3498" y="329184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C8A84"/>
                </a:solidFill>
                <a:latin typeface="Segoe UI"/>
              </a:rPr>
              <a:t>prueba P05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1719072"/>
            <a:ext cx="346649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1719072"/>
            <a:ext cx="3466490" cy="50292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9172" y="2066543"/>
            <a:ext cx="284469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21C"/>
                </a:solidFill>
                <a:latin typeface="Segoe UI"/>
              </a:rPr>
              <a:t>El presupuesto es un invariante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9172" y="2615184"/>
            <a:ext cx="2844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Al llegar al tope el sistema degrada a «sin dato». Jamás devuelve error ni gasta de más.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9172" y="329184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C8A84"/>
                </a:solidFill>
                <a:latin typeface="Segoe UI"/>
              </a:rPr>
              <a:t>prueba P12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05072"/>
            <a:ext cx="346649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05072"/>
            <a:ext cx="3466490" cy="5029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352544"/>
            <a:ext cx="284469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21C"/>
                </a:solidFill>
                <a:latin typeface="Segoe UI"/>
              </a:rPr>
              <a:t>Multi-tenant desde el día uno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901183"/>
            <a:ext cx="2844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RLS por organización y medidor de costo por cliente, desde la primera línea.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" y="557784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C8A84"/>
                </a:solidFill>
                <a:latin typeface="Segoe UI"/>
              </a:rPr>
              <a:t>prueba P01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2602" y="4005072"/>
            <a:ext cx="346649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2602" y="4005072"/>
            <a:ext cx="3466490" cy="5029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3498" y="4352544"/>
            <a:ext cx="284469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21C"/>
                </a:solidFill>
                <a:latin typeface="Segoe UI"/>
              </a:rPr>
              <a:t>La confianza depende del origen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3498" y="4901183"/>
            <a:ext cx="2844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Un JSON de API con checksum no necesita el mismo control que una extracción por LLM.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3498" y="557784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C8A84"/>
                </a:solidFill>
                <a:latin typeface="Segoe UI"/>
              </a:rPr>
              <a:t>prueba P14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8276" y="4005072"/>
            <a:ext cx="346649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8276" y="4005072"/>
            <a:ext cx="3466490" cy="50292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9172" y="4352544"/>
            <a:ext cx="284469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4221C"/>
                </a:solidFill>
                <a:latin typeface="Segoe UI"/>
              </a:rPr>
              <a:t>La cobertura se declara, incluida la que falta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9172" y="4901183"/>
            <a:ext cx="284469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Una fila por cada tienda del alcance, aunque haya fallado. «No pudimos mirar» ≠ «no hay producto».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69172" y="557784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C8A84"/>
                </a:solidFill>
                <a:latin typeface="Segoe UI"/>
              </a:rPr>
              <a:t>prueba P14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1 · FLUJO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El motor: DAG «EvaluarInsumo»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Seis etapas encadenadas. El plan del cliente decide dónde se detiene el flujo.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684477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4519"/>
            <a:ext cx="1684477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4825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05456"/>
            <a:ext cx="139186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Interpretar
insumo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82112"/>
            <a:ext cx="139186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Expande el término a sinónimos técnicos ES/EN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913632"/>
            <a:ext cx="1391869" cy="256032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0E7A45"/>
                </a:solidFill>
                <a:latin typeface="Segoe UI"/>
              </a:rPr>
              <a:t>LLM  glm-4.7-flashx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0277" y="1874519"/>
            <a:ext cx="1684477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0277" y="1874519"/>
            <a:ext cx="1684477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6581" y="204825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6581" y="2505456"/>
            <a:ext cx="139186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Buscar
productos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6581" y="3182112"/>
            <a:ext cx="139186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Match semántico local sobre el snapshot indexado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6581" y="3913632"/>
            <a:ext cx="1391869" cy="256032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0E7A45"/>
                </a:solidFill>
                <a:latin typeface="Segoe UI"/>
              </a:rPr>
              <a:t>Vectores + DuckDB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3626" y="1874519"/>
            <a:ext cx="1684477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3626" y="1874519"/>
            <a:ext cx="1684477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9930" y="204825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930" y="2505456"/>
            <a:ext cx="139186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Mapa
comercial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9930" y="3182112"/>
            <a:ext cx="139186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Quién lo vende hoy, dónde y a qué precio de góndola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9930" y="3913632"/>
            <a:ext cx="1391869" cy="256032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0E7A45"/>
                </a:solidFill>
                <a:latin typeface="Segoe UI"/>
              </a:rPr>
              <a:t>Puerto Shelf Radar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3591" y="1874519"/>
            <a:ext cx="1684477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3591" y="1874519"/>
            <a:ext cx="1684477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9895" y="204825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895" y="2505456"/>
            <a:ext cx="139186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Insight de
mercado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895" y="3182112"/>
            <a:ext cx="139186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Redacta el panorama citando solo filas entregadas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9895" y="3913632"/>
            <a:ext cx="1391869" cy="256032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0E7A45"/>
                </a:solidFill>
                <a:latin typeface="Segoe UI"/>
              </a:rPr>
              <a:t>LLM  glm-4.7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6940" y="1874519"/>
            <a:ext cx="1684477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6940" y="1874519"/>
            <a:ext cx="1684477" cy="50292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83244" y="204825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3244" y="2505456"/>
            <a:ext cx="139186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Hipótesis de
formulación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3244" y="3182112"/>
            <a:ext cx="139186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Ingeniería inversa de las listas de ingredientes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83244" y="3913632"/>
            <a:ext cx="1391869" cy="256032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6B3F8E"/>
                </a:solidFill>
                <a:latin typeface="Segoe UI"/>
              </a:rPr>
              <a:t>Minería + glm-5.2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0290" y="1874519"/>
            <a:ext cx="1684477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40290" y="1874519"/>
            <a:ext cx="1684477" cy="50292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86594" y="204825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6594" y="2505456"/>
            <a:ext cx="139186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Dossier
regulatorio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6594" y="3182112"/>
            <a:ext cx="139186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Aditivo por aditivo, con cita verificable y alertas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6594" y="3913632"/>
            <a:ext cx="1391869" cy="256032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6B3F8E"/>
                </a:solidFill>
                <a:latin typeface="Segoe UI"/>
              </a:rPr>
              <a:t>RAG + agente eCFR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262378" y="2944368"/>
            <a:ext cx="96926" cy="219456"/>
          </a:xfrm>
          <a:prstGeom prst="right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4065727" y="2944368"/>
            <a:ext cx="96926" cy="219456"/>
          </a:xfrm>
          <a:prstGeom prst="right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8029041" y="2944368"/>
            <a:ext cx="96926" cy="219456"/>
          </a:xfrm>
          <a:prstGeom prst="right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9832390" y="2944368"/>
            <a:ext cx="96926" cy="219456"/>
          </a:xfrm>
          <a:prstGeom prst="right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095847" y="1737360"/>
            <a:ext cx="0" cy="2788920"/>
          </a:xfrm>
          <a:prstGeom prst="line">
            <a:avLst/>
          </a:prstGeom>
          <a:ln w="20320">
            <a:solidFill>
              <a:srgbClr val="B876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528919" y="4553712"/>
            <a:ext cx="1133856" cy="310896"/>
          </a:xfrm>
          <a:prstGeom prst="roundRect">
            <a:avLst>
              <a:gd name="adj" fmla="val 40000"/>
            </a:avLst>
          </a:prstGeom>
          <a:solidFill>
            <a:srgbClr val="FDF3E0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B8760B"/>
                </a:solidFill>
                <a:latin typeface="Segoe UI"/>
              </a:rPr>
              <a:t>PAYWALL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1572768"/>
            <a:ext cx="5291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7A45"/>
                </a:solidFill>
                <a:latin typeface="Segoe UI"/>
              </a:rPr>
              <a:t>PLAN GRATUITO  ·  informe parcial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3591" y="1572768"/>
            <a:ext cx="52911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3F8E"/>
                </a:solidFill>
                <a:latin typeface="Segoe UI"/>
              </a:rPr>
              <a:t>PLAN PREMIUM  ·  dossier completo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029200"/>
            <a:ext cx="6192389" cy="658368"/>
          </a:xfrm>
          <a:prstGeom prst="roundRect">
            <a:avLst>
              <a:gd name="adj" fmla="val 6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4864" bIns="54864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 · InformeScout  —  PDF generado por worker asíncrono, con la auditoría completa del DAG: costo, duración y fuente de cada etapa.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850757" y="5193792"/>
            <a:ext cx="310896" cy="329184"/>
          </a:xfrm>
          <a:prstGeom prst="rightArrow">
            <a:avLst/>
          </a:prstGeom>
          <a:solidFill>
            <a:srgbClr val="7C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53093" y="5029200"/>
            <a:ext cx="4371673" cy="658368"/>
          </a:xfrm>
          <a:prstGeom prst="roundRect">
            <a:avLst>
              <a:gd name="adj" fmla="val 6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4864" bIns="54864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A5B53"/>
                </a:solidFill>
                <a:latin typeface="Segoe UI"/>
              </a:rPr>
              <a:t>Validación en el laboratorio del CITE  —  sin IA. Es el cierre humano del embudo, y es deliberado.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9070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C8A84"/>
                </a:solidFill>
                <a:latin typeface="Segoe UI"/>
              </a:rPr>
              <a:t>Latencia medida de la etapa 2a: p95 de 176 ms en CPU, contra un techo comprometido de 2 s.  ·  Segunda consulta idéntica = acierto de caché, costo de LLM cero.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2 · MAPA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Los ocho módulos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Cuatro módulos de producto (lo que el cliente ve) y cuatro de plataforma (lo que lo hace defendible).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2558719" cy="201168"/>
          </a:xfrm>
          <a:prstGeom prst="rect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19656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6771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Motor de 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24912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El DAG de 6 etapas, el orquestador y el paywall. Es el producto.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46703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casos_de_uso/etapas/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719072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9967" y="1719072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9967" y="1938528"/>
            <a:ext cx="2558719" cy="201168"/>
          </a:xfrm>
          <a:prstGeom prst="rect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23" y="1819656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226771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Shelf Radar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23" y="2724912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Descubrimiento comercial en 67 tiendas de 29 países con cascada de 3 niveles de costo.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3346703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adaptadores/catalogo_*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1719072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1719072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938528"/>
            <a:ext cx="2558719" cy="201168"/>
          </a:xfrm>
          <a:prstGeom prst="rect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2463" y="1819656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463" y="226771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Corpus regulatorio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463" y="2724912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eCFR, EFSA, Codex, INACAL y DIGESA indexados, más alertas de retiro RASFF y openFDA.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3346703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adaptadores/corpus_*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6047" y="1719072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66047" y="1719072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6047" y="1938528"/>
            <a:ext cx="2558719" cy="201168"/>
          </a:xfrm>
          <a:prstGeom prst="rect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5503" y="1819656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5503" y="226771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Análisis de aditivos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5503" y="2724912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Veredicto por mercado (US · Codex · UE) para cada aditivo de la etiqueta, con cita literal.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5503" y="3346703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casos_de_uso/analizar_*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950208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50208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169664"/>
            <a:ext cx="2558719" cy="201168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050792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5E9E"/>
                </a:solidFill>
                <a:latin typeface="Segoe UI"/>
              </a:rP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4498848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Agente investigador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4956048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Busca en la web lo que ninguna API tiene. Sale a cuarentena y solo se promueve si supera el grounding check.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5577840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casos_de_uso/agente/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99967" y="3950208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99967" y="3950208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99967" y="4169664"/>
            <a:ext cx="2558719" cy="201168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9423" y="4050792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5E9E"/>
                </a:solidFill>
                <a:latin typeface="Segoe UI"/>
              </a:rPr>
              <a:t>M6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9423" y="4498848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MIM · Inteligencia de mercado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9423" y="4956048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Taxonomía CITE, motor de tendencias determinista en DuckDB y generación de deck y fichas.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9423" y="5577840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adaptadores/motor_tendencias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3007" y="3950208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33007" y="3950208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3007" y="4169664"/>
            <a:ext cx="2558719" cy="201168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2463" y="4050792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5E9E"/>
                </a:solidFill>
                <a:latin typeface="Segoe UI"/>
              </a:rPr>
              <a:t>M7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52463" y="4498848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Panel CITE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2463" y="4956048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Progreso de jobs en vivo, medidor de costo por etapa y cliente, auditoría, alertas y kill-switch.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2463" y="5577840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frontend/src/components/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66047" y="3950208"/>
            <a:ext cx="2558719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66047" y="3950208"/>
            <a:ext cx="2558719" cy="420624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66047" y="4169664"/>
            <a:ext cx="2558719" cy="201168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85503" y="4050792"/>
            <a:ext cx="2119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5E9E"/>
                </a:solidFill>
                <a:latin typeface="Segoe UI"/>
              </a:rPr>
              <a:t>M8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5503" y="4498848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21C"/>
                </a:solidFill>
                <a:latin typeface="Segoe UI"/>
              </a:rPr>
              <a:t>Plataforma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5503" y="4956048"/>
            <a:ext cx="2119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Autenticación, RLS multi-tenant, planes y suscripciones, cola de trabajos e informes en PDF.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5503" y="5577840"/>
            <a:ext cx="2119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7C8A84"/>
                </a:solidFill>
                <a:latin typeface="Segoe UI"/>
              </a:rPr>
              <a:t>api/ · puertos/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Los cuatro módulos verdes son lo que el cliente compra.  Los cuatro azules son lo que hace que el comité pueda firmar un SLA sobre ellos.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3 · ESTRUCTURA INTERNA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Arquitectura hexagonal: independencia de proveedor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Las reglas de negocio no conocen a Supabase, ni a Huawei, ni a GLM. Solo conocen contratos.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783080"/>
            <a:ext cx="6035040" cy="3977639"/>
          </a:xfrm>
          <a:prstGeom prst="roundRect">
            <a:avLst>
              <a:gd name="adj" fmla="val 4000"/>
            </a:avLst>
          </a:prstGeom>
          <a:solidFill>
            <a:srgbClr val="E8F1F9"/>
          </a:solidFill>
          <a:ln w="1524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4767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5E9E"/>
                </a:solidFill>
                <a:latin typeface="Segoe UI"/>
              </a:rPr>
              <a:t>ADAPTADORES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el mundo exterior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2313432"/>
            <a:ext cx="3200399" cy="2916935"/>
          </a:xfrm>
          <a:prstGeom prst="roundRect">
            <a:avLst>
              <a:gd name="adj" fmla="val 4000"/>
            </a:avLst>
          </a:prstGeom>
          <a:solidFill>
            <a:srgbClr val="E7F4EC"/>
          </a:solidFill>
          <a:ln w="1524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47802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PUERTOS +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9748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0E7A45"/>
                </a:solidFill>
                <a:latin typeface="Segoe UI"/>
              </a:rPr>
              <a:t>el flujo de la aplicación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3044952"/>
            <a:ext cx="2340863" cy="1545335"/>
          </a:xfrm>
          <a:prstGeom prst="roundRect">
            <a:avLst>
              <a:gd name="adj" fmla="val 5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EA466"/>
                </a:solidFill>
                <a:latin typeface="Segoe UI"/>
              </a:rPr>
              <a:t>DOMINIO</a:t>
            </a:r>
          </a:p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19" b="0" i="0">
                <a:solidFill>
                  <a:srgbClr val="C5D8CE"/>
                </a:solidFill>
                <a:latin typeface="Segoe UI"/>
              </a:rPr>
              <a:t>ProductoEnMercado
InsightMercado · InformeScout
DossierRegulatorio
AnálisisAditivos · AlertaRetiro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2624328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256946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Supabase / RDS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3026664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297180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LanceDB · DuckDB · SQLite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" y="3429000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37413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GLM vía ModelArts (LiteLLM)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" y="3831335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7764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Tavily · Brave · Bright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" y="4233672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417880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VTEX · Shopify · JSON-LD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" y="4636008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458114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eCFR · EFSA · openFDA · RASFF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" y="5038344"/>
            <a:ext cx="45720" cy="128016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498348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1B5E9E"/>
                </a:solidFill>
                <a:latin typeface="Segoe UI"/>
              </a:rPr>
              <a:t>WeasyPrint (PDF) ·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1810512"/>
            <a:ext cx="46113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QUÉ COMPRA ESTA DECISIÓN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13448" y="2249424"/>
            <a:ext cx="4611319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13448" y="2249424"/>
            <a:ext cx="45720" cy="87782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2395728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Cambiar de nube sin reescribir el producto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670048"/>
            <a:ext cx="41083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La base pasó de Supabase (AWS São Paulo) a RDS de Huawei tocando un adaptador. Cero cambios en las reglas de negocio.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13448" y="3218688"/>
            <a:ext cx="4611319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13448" y="3218688"/>
            <a:ext cx="45720" cy="87782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3364992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Cambiar de modelo sin rehacer las etapas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639312"/>
            <a:ext cx="41083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glm-4.7-flashx, glm-4.7 y glm-5.2 entran por un único puerto de redacción. Sustituirlos por Qwen o mistral-embed es configuración.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13448" y="4187952"/>
            <a:ext cx="4611319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13448" y="4187952"/>
            <a:ext cx="45720" cy="87782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4334256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Correr sin internet para la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608576"/>
            <a:ext cx="41083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El mismo código funciona con SQLite y caché local: la demostración ante el comité no depende de la conectividad de la sala.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13448" y="5157216"/>
            <a:ext cx="4611319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13448" y="5157216"/>
            <a:ext cx="45720" cy="87782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5303520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Probar sin pagar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577840"/>
            <a:ext cx="41083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Los puertos se sustituyen por dobles en las pruebas; la batería completa corre sin gastar un centavo de LLM.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7C8A84"/>
                </a:solidFill>
                <a:latin typeface="Segoe UI"/>
              </a:rPr>
              <a:t>En el repositorio esto son seis carpetas literales: dominio/ · puertos/ · casos_de_uso/ · adaptadores/ · api/ · etl/. La estructura del código es la estructura del argumento.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4 · CASCADA DE DESCUBRIMIENTO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Módulo M2 · Shelf Radar: el precio real de góndola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Un solo contrato para la etapa 2b; por debajo, tres niveles con costos que se diferencian en tres órdenes de magnitud.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1488" y="1719072"/>
            <a:ext cx="6668719" cy="566928"/>
          </a:xfrm>
          <a:prstGeom prst="roundRect">
            <a:avLst>
              <a:gd name="adj" fmla="val 6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Puerto  DescubrimientoComercial</a:t>
            </a:r>
          </a:p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9FC3B2"/>
                </a:solidFill>
                <a:latin typeface="Segoe UI"/>
              </a:rPr>
              <a:t>recibe  insumo + país + nivel_maximo_costo   →   devuelve  ProductoEnMercado[]  con fuente, URL y fecha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56917" y="2340864"/>
            <a:ext cx="201168" cy="274320"/>
          </a:xfrm>
          <a:prstGeom prst="down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688336"/>
            <a:ext cx="3381146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688336"/>
            <a:ext cx="3381146" cy="530352"/>
          </a:xfrm>
          <a:prstGeom prst="roundRect">
            <a:avLst>
              <a:gd name="adj" fmla="val 1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62656"/>
            <a:ext cx="3381146" cy="25603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9806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N1   Conectores propios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3594" y="2816352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42 tiendas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447288"/>
            <a:ext cx="45720" cy="109728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38328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VTEX  ·  API pública (~15 tiendas)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721608"/>
            <a:ext cx="45720" cy="109728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5760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Shopify  ·  products.json (~15)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3995928"/>
            <a:ext cx="45720" cy="109728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93192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JSON-LD  ·  sitemap + schema.org (~12)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4270248"/>
            <a:ext cx="45720" cy="109728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20624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Scrapling  ·  solo si exige JS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" y="4553712"/>
            <a:ext cx="2905658" cy="0"/>
          </a:xfrm>
          <a:prstGeom prst="line">
            <a:avLst/>
          </a:prstGeom>
          <a:ln w="12700">
            <a:solidFill>
              <a:srgbClr val="BFD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" y="464515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E7A45"/>
                </a:solidFill>
                <a:latin typeface="Segoe UI"/>
              </a:rPr>
              <a:t>~US$ 0,0001 por consulta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C8A84"/>
                </a:solidFill>
                <a:latin typeface="Segoe UI"/>
              </a:rPr>
              <a:t>&lt; 100 ms  ·  determinista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5263" y="2340864"/>
            <a:ext cx="201168" cy="274320"/>
          </a:xfrm>
          <a:prstGeom prst="downArrow">
            <a:avLst/>
          </a:prstGeom>
          <a:solidFill>
            <a:srgbClr val="C2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05274" y="2688336"/>
            <a:ext cx="3381146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05274" y="2688336"/>
            <a:ext cx="3381146" cy="530352"/>
          </a:xfrm>
          <a:prstGeom prst="roundRect">
            <a:avLst>
              <a:gd name="adj" fmla="val 10000"/>
            </a:avLst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5274" y="2962656"/>
            <a:ext cx="3381146" cy="25603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3018" y="279806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N2   Fuente licenciada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1940" y="2816352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5 tiendas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3018" y="3447288"/>
            <a:ext cx="45720" cy="109728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7610" y="338328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Bright Data Scraper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3018" y="3721608"/>
            <a:ext cx="45720" cy="109728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7610" y="365760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Amazon · Costco · Instacart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43018" y="3995928"/>
            <a:ext cx="45720" cy="109728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7610" y="393192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Kroger · Meituan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3018" y="4270248"/>
            <a:ext cx="45720" cy="109728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7610" y="420624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Modelo asíncrono con webhook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43018" y="4553712"/>
            <a:ext cx="2905658" cy="0"/>
          </a:xfrm>
          <a:prstGeom prst="line">
            <a:avLst/>
          </a:prstGeom>
          <a:ln w="12700">
            <a:solidFill>
              <a:srgbClr val="C2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43018" y="464515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5E9E"/>
                </a:solidFill>
                <a:latin typeface="Segoe UI"/>
              </a:rPr>
              <a:t>~US$ 200 al año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882896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C8A84"/>
                </a:solidFill>
                <a:latin typeface="Segoe UI"/>
              </a:rPr>
              <a:t>1-5 min  ·  contractual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9833610" y="2340864"/>
            <a:ext cx="201168" cy="274320"/>
          </a:xfrm>
          <a:prstGeom prst="downArrow">
            <a:avLst/>
          </a:prstGeom>
          <a:solidFill>
            <a:srgbClr val="EE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43620" y="2688336"/>
            <a:ext cx="3381146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43620" y="2688336"/>
            <a:ext cx="3381146" cy="530352"/>
          </a:xfrm>
          <a:prstGeom prst="roundRect">
            <a:avLst>
              <a:gd name="adj" fmla="val 10000"/>
            </a:avLst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43620" y="2962656"/>
            <a:ext cx="3381146" cy="256032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1364" y="279806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N3   Agente de 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0287" y="2816352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solo los huecos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81364" y="3447288"/>
            <a:ext cx="45720" cy="109728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5956" y="338328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Pydantic AI + glm-5.2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81364" y="3721608"/>
            <a:ext cx="45720" cy="109728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5956" y="365760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Tavily con Brave de respaldo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81364" y="3995928"/>
            <a:ext cx="45720" cy="109728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5956" y="393192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trafilatura para extraer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81364" y="4270248"/>
            <a:ext cx="45720" cy="109728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5956" y="4206240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B53"/>
                </a:solidFill>
                <a:latin typeface="Segoe UI"/>
              </a:rPr>
              <a:t>Sale a cuarentena, no al catálogo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81364" y="4553712"/>
            <a:ext cx="2905659" cy="0"/>
          </a:xfrm>
          <a:prstGeom prst="line">
            <a:avLst/>
          </a:prstGeom>
          <a:ln w="12700">
            <a:solidFill>
              <a:srgbClr val="EED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81364" y="4645152"/>
            <a:ext cx="290565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8760B"/>
                </a:solidFill>
                <a:latin typeface="Segoe UI"/>
              </a:rPr>
              <a:t>US$ 0,25 por corrida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1364" y="4882896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C8A84"/>
                </a:solidFill>
                <a:latin typeface="Segoe UI"/>
              </a:rPr>
              <a:t>~2 min  ·  presupuestado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2156917" y="5230368"/>
            <a:ext cx="201168" cy="237744"/>
          </a:xfrm>
          <a:prstGeom prst="down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own Arrow 58"/>
          <p:cNvSpPr/>
          <p:nvPr/>
        </p:nvSpPr>
        <p:spPr>
          <a:xfrm>
            <a:off x="5995263" y="5230368"/>
            <a:ext cx="201168" cy="237744"/>
          </a:xfrm>
          <a:prstGeom prst="downArrow">
            <a:avLst/>
          </a:prstGeom>
          <a:solidFill>
            <a:srgbClr val="C2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9833610" y="5230368"/>
            <a:ext cx="201168" cy="237744"/>
          </a:xfrm>
          <a:prstGeom prst="downArrow">
            <a:avLst/>
          </a:prstGeom>
          <a:solidFill>
            <a:srgbClr val="EE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6928" y="5541264"/>
            <a:ext cx="7219492" cy="566928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E7A45"/>
                </a:solidFill>
                <a:latin typeface="Segoe UI"/>
              </a:rPr>
              <a:t>catalogo_comercial  —  entra directo, verificado por checksum SHA-256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43620" y="5541264"/>
            <a:ext cx="3381146" cy="566928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B8760B"/>
                </a:solidFill>
                <a:latin typeface="Segoe UI"/>
              </a:rPr>
              <a:t>staging_agente  —  cuarentena
grounding check + promoción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2727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7C8A84"/>
                </a:solidFill>
                <a:latin typeface="Segoe UI"/>
              </a:rPr>
              <a:t>Barrido semanal de 50 productos en 42 tiendas por N1:  ~US$ 0,60 al año.  La misma cobertura solo con agente costaría cinco cifras.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5 · ANÁLISIS REGULATORIO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Módulos M3 y M4 · Del aditivo al veredicto por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Cada mercado impone su propio mecanismo. Un solo mecanismo para los tres sería el peor para dos de ellos.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2834640" cy="786384"/>
          </a:xfrm>
          <a:prstGeom prst="roundRect">
            <a:avLst>
              <a:gd name="adj" fmla="val 6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Etiqueta del producto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9FC3B2"/>
                </a:solidFill>
                <a:latin typeface="Segoe UI"/>
              </a:rPr>
              <a:t>50 patrones  →  nombre canónico + nº E
35 aditivos reconocidos hoy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11296" y="2011680"/>
            <a:ext cx="329184" cy="256032"/>
          </a:xfrm>
          <a:prstGeom prst="rightArrow">
            <a:avLst/>
          </a:prstGeom>
          <a:solidFill>
            <a:srgbClr val="2EA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68496" y="1737360"/>
            <a:ext cx="3108960" cy="786384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E7A45"/>
                </a:solidFill>
                <a:latin typeface="Segoe UI"/>
              </a:rPr>
              <a:t>El veredicto es del PAR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4A5B53"/>
                </a:solidFill>
                <a:latin typeface="Segoe UI"/>
              </a:rPr>
              <a:t>aditivo  ×  categoría de alimento
no del aditivo aislado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1737360"/>
            <a:ext cx="4346143" cy="786384"/>
          </a:xfrm>
          <a:prstGeom prst="roundRect">
            <a:avLst>
              <a:gd name="adj" fmla="val 6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54864" bIns="54864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8760B"/>
                </a:solidFill>
                <a:latin typeface="Segoe UI"/>
              </a:rPr>
              <a:t>Por eso existe el asterisco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El ácido sórbico está autorizado en la UE, pero la categoría que lo autoriza excluye purés → NO*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34640"/>
            <a:ext cx="342991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34640"/>
            <a:ext cx="3429914" cy="5029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54096"/>
            <a:ext cx="288127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1C"/>
                </a:solidFill>
                <a:latin typeface="Segoe UI"/>
              </a:rPr>
              <a:t>EE. UU.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341985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B5E9E"/>
                </a:solidFill>
                <a:latin typeface="Segoe UI"/>
              </a:rPr>
              <a:t>Agente en vivo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840480"/>
            <a:ext cx="288127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0" i="0">
                <a:solidFill>
                  <a:srgbClr val="4A5B53"/>
                </a:solidFill>
                <a:latin typeface="Segoe UI"/>
              </a:rPr>
              <a:t>La API oficial del eCFR responde JSON estructurado. Consultar en vivo es estrictamente mejor que cualquier tabla congelada: «calcium disodium EDTA» devuelve 21 CFR §172.120 como primer resultado.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81301" y="4901184"/>
            <a:ext cx="201168" cy="237744"/>
          </a:xfrm>
          <a:prstGeom prst="downArrow">
            <a:avLst/>
          </a:prstGeom>
          <a:solidFill>
            <a:srgbClr val="C2D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0890" y="2834640"/>
            <a:ext cx="342991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0890" y="2834640"/>
            <a:ext cx="3429914" cy="50292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5210" y="3054096"/>
            <a:ext cx="288127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1C"/>
                </a:solidFill>
                <a:latin typeface="Segoe UI"/>
              </a:rPr>
              <a:t>Codex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5210" y="341985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B8760B"/>
                </a:solidFill>
                <a:latin typeface="Segoe UI"/>
              </a:rPr>
              <a:t>Curación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5210" y="3840480"/>
            <a:ext cx="288127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0" i="0">
                <a:solidFill>
                  <a:srgbClr val="4A5B53"/>
                </a:solidFill>
                <a:latin typeface="Segoe UI"/>
              </a:rPr>
              <a:t>La FAO prohíbe el rastreo en su robots.txt y Bright Data respeta esa prohibición. Se curan a mano los aditivos del universo conocido. No se fuerza: es una decisión de riesgo, no una limitación técnica.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95263" y="4901184"/>
            <a:ext cx="201168" cy="237744"/>
          </a:xfrm>
          <a:prstGeom prst="downArrow">
            <a:avLst/>
          </a:prstGeom>
          <a:solidFill>
            <a:srgbClr val="EE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4852" y="2834640"/>
            <a:ext cx="342991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4852" y="2834640"/>
            <a:ext cx="3429914" cy="50292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9172" y="3054096"/>
            <a:ext cx="288127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1C"/>
                </a:solidFill>
                <a:latin typeface="Segoe UI"/>
              </a:rPr>
              <a:t>Unión Europea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9172" y="341985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6B3F8E"/>
                </a:solidFill>
                <a:latin typeface="Segoe UI"/>
              </a:rPr>
              <a:t>Ingesta única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9172" y="3840480"/>
            <a:ext cx="288127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0" i="0">
                <a:solidFill>
                  <a:srgbClr val="4A5B53"/>
                </a:solidFill>
                <a:latin typeface="Segoe UI"/>
              </a:rPr>
              <a:t>El Anexo II es un solo documento de 3,4 MB con 602 tablas. Se ingiere una vez y se consulta en local: determinista, instantáneo y completo. Un agente aquí sería peor y más caro.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09226" y="4901184"/>
            <a:ext cx="201168" cy="237744"/>
          </a:xfrm>
          <a:prstGeom prst="downArrow">
            <a:avLst/>
          </a:prstGeom>
          <a:solidFill>
            <a:srgbClr val="DF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5212080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GROUNDING CHECK  —  el agente solo puede afirmar lo que consigue citar literalmente del documento oficial que descargó. Si el número del límite no aparece en el texto, la celda sale «sin dato».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961888"/>
            <a:ext cx="21091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SÍ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4099" y="5961888"/>
            <a:ext cx="21091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A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EA466"/>
                </a:solidFill>
                <a:latin typeface="Segoe UI"/>
              </a:rPr>
              <a:t>SÍ*  condicionado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1270" y="5961888"/>
            <a:ext cx="21091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03A30"/>
                </a:solidFill>
                <a:latin typeface="Segoe UI"/>
              </a:rP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8441" y="5961888"/>
            <a:ext cx="21091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7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760B"/>
                </a:solidFill>
                <a:latin typeface="Segoe UI"/>
              </a:rPr>
              <a:t>NO*  condicionado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15612" y="5961888"/>
            <a:ext cx="21091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8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C8A84"/>
                </a:solidFill>
                <a:latin typeface="Segoe UI"/>
              </a:rPr>
              <a:t>SIN DATO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642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7C8A84"/>
                </a:solidFill>
                <a:latin typeface="Segoe UI"/>
              </a:rPr>
              <a:t>Cero celdas sin URL: sin referencia verificable no se pinta veredicto.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LO QUE EL CITE OPERA TODOS LOS DÍAS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M6 y M7 · Inteligencia de mercado y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272887" cy="4315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272887" cy="502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2880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1C"/>
                </a:solidFill>
                <a:latin typeface="Segoe UI"/>
              </a:rPr>
              <a:t>M6 · MIM — Motor de Inteligencia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12848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Lo que hoy se le compra a Mintel o Trend Hunter, construido con fuentes abiertas y la taxonomía del propio CITE.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798064"/>
            <a:ext cx="4504791" cy="54864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88950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Taxonomía CITE v0.1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108960"/>
            <a:ext cx="4065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categorías canónicas, claims e ingredientes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130219" y="3364992"/>
            <a:ext cx="146304" cy="164592"/>
          </a:xfrm>
          <a:prstGeom prst="down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3529584"/>
            <a:ext cx="4504791" cy="548640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62102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ETL + normalización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840480"/>
            <a:ext cx="4065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los productos se clasifican contra la taxonomía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30219" y="4096512"/>
            <a:ext cx="146304" cy="164592"/>
          </a:xfrm>
          <a:prstGeom prst="down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" y="4261104"/>
            <a:ext cx="4504791" cy="54864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35254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Motor de tendencias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572000"/>
            <a:ext cx="4065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DuckDB, determinista, sin LLM: % de cambio por trimestre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30219" y="4828032"/>
            <a:ext cx="146304" cy="164592"/>
          </a:xfrm>
          <a:prstGeom prst="down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" y="4992624"/>
            <a:ext cx="4504791" cy="548640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08406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Reportes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303520"/>
            <a:ext cx="4065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deck de tendencias + ficha ProductoEnMercado en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541264"/>
            <a:ext cx="4523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1">
                <a:solidFill>
                  <a:srgbClr val="B8760B"/>
                </a:solidFill>
                <a:latin typeface="Segoe UI"/>
              </a:rPr>
              <a:t>Restricción declarada: el motor exige 8 trimestres de histórico. La captura diaria arranca ya, aunque la serie propia no se use hasta 2028.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1879" y="1572768"/>
            <a:ext cx="5272887" cy="4315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1879" y="1572768"/>
            <a:ext cx="5272887" cy="5029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5927" y="182880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1C"/>
                </a:solidFill>
                <a:latin typeface="Segoe UI"/>
              </a:rPr>
              <a:t>M7 · Panel CITE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5927" y="2212848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4A5B53"/>
                </a:solidFill>
                <a:latin typeface="Segoe UI"/>
              </a:rPr>
              <a:t>El cliente ve lo que cuesta, lo que se procesa y lo que falla. La transparencia operativa es parte del producto.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35927" y="2798064"/>
            <a:ext cx="2142667" cy="621792"/>
          </a:xfrm>
          <a:prstGeom prst="roundRect">
            <a:avLst>
              <a:gd name="adj" fmla="val 5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8807" y="2907792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Jobs en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8807" y="3136392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progreso por WebSocket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051" y="2798064"/>
            <a:ext cx="2142667" cy="621792"/>
          </a:xfrm>
          <a:prstGeom prst="roundRect">
            <a:avLst>
              <a:gd name="adj" fmla="val 5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0931" y="2907792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Medidor de costo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0931" y="3136392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por etapa, cliente y consulta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35927" y="3547872"/>
            <a:ext cx="2142667" cy="621792"/>
          </a:xfrm>
          <a:prstGeom prst="roundRect">
            <a:avLst>
              <a:gd name="adj" fmla="val 5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18807" y="3657600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Auditoría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8807" y="3886200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quién vio qué y cuándo, exportable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051" y="3547872"/>
            <a:ext cx="2142667" cy="621792"/>
          </a:xfrm>
          <a:prstGeom prst="roundRect">
            <a:avLst>
              <a:gd name="adj" fmla="val 5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0931" y="3657600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Alertas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0931" y="3886200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retiros, cobertura y corpus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35927" y="4297680"/>
            <a:ext cx="2142667" cy="621792"/>
          </a:xfrm>
          <a:prstGeom prst="roundRect">
            <a:avLst>
              <a:gd name="adj" fmla="val 5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18807" y="4407408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Promoción manual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8807" y="4636008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revisar y aprobar lo del agente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051" y="4297680"/>
            <a:ext cx="2142667" cy="621792"/>
          </a:xfrm>
          <a:prstGeom prst="roundRect">
            <a:avLst>
              <a:gd name="adj" fmla="val 5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0931" y="4407408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Kill-switch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0931" y="4636008"/>
            <a:ext cx="17769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corta el gasto de golpe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5927" y="5541264"/>
            <a:ext cx="4523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1">
                <a:solidFill>
                  <a:srgbClr val="7C8A84"/>
                </a:solidFill>
                <a:latin typeface="Segoe UI"/>
              </a:rPr>
              <a:t>Vue 3 + Vite, SPA sin estado. La guía de usuario del panel ya está escrita y la capacitación del CITE está presupuestada en el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6 · CAPAS Y TECNOLOGÍAS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Todo lo listado está instalado y en uso en el repositorio, salvo lo marcado como previsto para v3.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4864" cy="69494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9222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45"/>
                </a:solidFill>
                <a:latin typeface="Segoe UI"/>
              </a:rPr>
              <a:t>EXPERIENCIA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2996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C8A84"/>
                </a:solidFill>
                <a:latin typeface="Segoe UI"/>
              </a:rPr>
              <a:t>Lo que el usuario toca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1847088"/>
            <a:ext cx="1076456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Vue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000" y="1847088"/>
            <a:ext cx="1166161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Vite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4457" y="1847088"/>
            <a:ext cx="152498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vue-router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734" y="1847088"/>
            <a:ext cx="2242617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marked + DOMPurify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6648" y="1847088"/>
            <a:ext cx="1883799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SPA sin estado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96312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496312"/>
            <a:ext cx="54864" cy="694944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62432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APLICACIÓN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86207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C8A84"/>
                </a:solidFill>
                <a:latin typeface="Segoe UI"/>
              </a:rPr>
              <a:t>API, contratos y orquestación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7248" y="2679192"/>
            <a:ext cx="889138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8682" y="2679192"/>
            <a:ext cx="889138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Uvicorn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0117" y="2679192"/>
            <a:ext cx="1143178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Pydantic v2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5591" y="2679192"/>
            <a:ext cx="1524237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WebSocket de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2125" y="2679192"/>
            <a:ext cx="1714767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procrastinate (cola)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9189" y="2679192"/>
            <a:ext cx="1651257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WeasyPrint + Jinja2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328416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328416"/>
            <a:ext cx="54864" cy="694944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4564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3F8E"/>
                </a:solidFill>
                <a:latin typeface="Segoe UI"/>
              </a:rPr>
              <a:t>INTELIGENCIA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69417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C8A84"/>
                </a:solidFill>
                <a:latin typeface="Segoe UI"/>
              </a:rPr>
              <a:t>Modelos y agentes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7248" y="3511296"/>
            <a:ext cx="1172187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glm-4.7-flashx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731" y="3511296"/>
            <a:ext cx="781458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glm-4.7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45485" y="3511296"/>
            <a:ext cx="781458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glm-5.2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9239" y="3511296"/>
            <a:ext cx="781458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LiteLLM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72994" y="3511296"/>
            <a:ext cx="948913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Instructor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4203" y="3511296"/>
            <a:ext cx="1004732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Pydantic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1231" y="3511296"/>
            <a:ext cx="1172187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Tavily / Brave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45715" y="3511296"/>
            <a:ext cx="1004732" cy="329184"/>
          </a:xfrm>
          <a:prstGeom prst="roundRect">
            <a:avLst>
              <a:gd name="adj" fmla="val 50000"/>
            </a:avLst>
          </a:prstGeom>
          <a:solidFill>
            <a:srgbClr val="F1EAF8"/>
          </a:solidFill>
          <a:ln w="9525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6B3F8E"/>
                </a:solidFill>
                <a:latin typeface="Segoe UI"/>
              </a:rPr>
              <a:t>trafilatura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160520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160520"/>
            <a:ext cx="54864" cy="694944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2885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760B"/>
                </a:solidFill>
                <a:latin typeface="Segoe UI"/>
              </a:rPr>
              <a:t>DATOS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452628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C8A84"/>
                </a:solidFill>
                <a:latin typeface="Segoe UI"/>
              </a:rPr>
              <a:t>Dónde vive cada cosa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27248" y="4343400"/>
            <a:ext cx="1576048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PostgreSQL + RLS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85592" y="4343400"/>
            <a:ext cx="1027857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pgvector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5746" y="4343400"/>
            <a:ext cx="959333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LanceDB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37376" y="4343400"/>
            <a:ext cx="890810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DuckDB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10482" y="4343400"/>
            <a:ext cx="1576048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SQLite (offline)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68827" y="4343400"/>
            <a:ext cx="1781620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bge-m3 (embeddings)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992624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992624"/>
            <a:ext cx="54864" cy="694944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7" y="512064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INGESTA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" y="535838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C8A84"/>
                </a:solidFill>
                <a:latin typeface="Segoe UI"/>
              </a:rPr>
              <a:t>Cómo entra el dato del mundo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7248" y="5175504"/>
            <a:ext cx="1382073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httpx / requests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91617" y="5175504"/>
            <a:ext cx="961442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Scrapling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35355" y="5175504"/>
            <a:ext cx="1081622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Bright Data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99274" y="5175504"/>
            <a:ext cx="1201802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BeautifulSoup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83373" y="5175504"/>
            <a:ext cx="1382073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pdfplumber + OCR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47742" y="5175504"/>
            <a:ext cx="1802704" cy="329184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 w="9525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B5E9E"/>
                </a:solidFill>
                <a:latin typeface="Segoe UI"/>
              </a:rPr>
              <a:t>robots.txt + rate limit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5824728"/>
            <a:ext cx="11057839" cy="6949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5824728"/>
            <a:ext cx="54864" cy="69494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7" y="595274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45"/>
                </a:solidFill>
                <a:latin typeface="Segoe UI"/>
              </a:rPr>
              <a:t>INFRAESTRUCTURA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7" y="619048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7C8A84"/>
                </a:solidFill>
                <a:latin typeface="Segoe UI"/>
              </a:rPr>
              <a:t>Dónde corre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27248" y="6007608"/>
            <a:ext cx="1342639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Huawei ECS 8 GB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52183" y="6007608"/>
            <a:ext cx="128161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RDS PostgreSQL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16089" y="6007608"/>
            <a:ext cx="1220581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OBS (objetos)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18966" y="6007608"/>
            <a:ext cx="128161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ModelArts MaaS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82872" y="6007608"/>
            <a:ext cx="732348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Nginx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97517" y="6007608"/>
            <a:ext cx="1952929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Prometheus + Grafana (v3)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27278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C8A84"/>
                </a:solidFill>
                <a:latin typeface="Segoe UI"/>
              </a:rPr>
              <a:t>Python 3.11 · gestión de dependencias con uv · pruebas con pytest y pytest-asyncio · arquitectura hexagonal en seis paquetes.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DE DÓNDE SALE CADA CIFRA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Fuentes de datos y almacenes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Ninguna fuente de pago obligatoria. Todas las licencias están revisadas.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619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FUENTES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75104"/>
            <a:ext cx="45720" cy="53035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57400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Open Food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67712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Ingredientes, alérgenos, nutrición y la llave EAN/GTIN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2581" y="2112264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ODbL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60320"/>
            <a:ext cx="45720" cy="53035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642616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USDA Branded / FoodData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52928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Composición y marca; tapa el hueco de OFF en LATAM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2581" y="2697480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CC0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45536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145536"/>
            <a:ext cx="45720" cy="53035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227832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Shelf Radar (propio)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438144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Precio real de góndola, stock y promoción · 67 tiendas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2581" y="3282696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conector propio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30752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730752"/>
            <a:ext cx="45720" cy="53035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813048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UN Comtrade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023360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Precio de exportación US$/kg por flujo y socio comercial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2581" y="3867912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abierta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315968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315968"/>
            <a:ext cx="45720" cy="530352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398264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eCFR · EFSA · Codex · INACAL · DIGESA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608576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Corpus regulatorio de los mercados objetivo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2581" y="445312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pública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901183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901183"/>
            <a:ext cx="45720" cy="530352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983479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openFDA · RASFF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193792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Alertas de retiro y acciones de vigilancia sanitaria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2581" y="5038344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pública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486399"/>
            <a:ext cx="6192389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486399"/>
            <a:ext cx="45720" cy="530352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568695"/>
            <a:ext cx="4592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Fichas y taxonomía CITE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5779007"/>
            <a:ext cx="45921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El know-how agroindustrial propio de Chavimochic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2581" y="5623559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6F9F7"/>
          </a:solidFill>
          <a:ln w="9525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7C8A84"/>
                </a:solidFill>
                <a:latin typeface="Segoe UI"/>
              </a:rPr>
              <a:t>propia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3365" y="1645920"/>
            <a:ext cx="44814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ALMACENES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43365" y="1975104"/>
            <a:ext cx="4481401" cy="658368"/>
          </a:xfrm>
          <a:prstGeom prst="roundRect">
            <a:avLst>
              <a:gd name="adj" fmla="val 4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1109" y="2057400"/>
            <a:ext cx="40242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Snapshot local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1109" y="2258568"/>
            <a:ext cx="27440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4A5B53"/>
                </a:solidFill>
                <a:latin typeface="Segoe UI"/>
              </a:rPr>
              <a:t>29.054 productos indexados · 66 MB
ficha técnica + corpus mínimo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1999" y="2249424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40" b="1" i="0">
                <a:solidFill>
                  <a:srgbClr val="1B5E9E"/>
                </a:solidFill>
                <a:latin typeface="Segoe UI"/>
              </a:rPr>
              <a:t>DuckDB + bge-m3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43365" y="2706624"/>
            <a:ext cx="4481401" cy="658368"/>
          </a:xfrm>
          <a:prstGeom prst="roundRect">
            <a:avLst>
              <a:gd name="adj" fmla="val 4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81109" y="2788920"/>
            <a:ext cx="40242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Índice vectorial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81109" y="2990088"/>
            <a:ext cx="27440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4A5B53"/>
                </a:solidFill>
                <a:latin typeface="Segoe UI"/>
              </a:rPr>
              <a:t>135 MB · búsqueda semántica
p95 medido: 176 ms en CPU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1999" y="2980944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40" b="1" i="0">
                <a:solidFill>
                  <a:srgbClr val="1B5E9E"/>
                </a:solidFill>
                <a:latin typeface="Segoe UI"/>
              </a:rPr>
              <a:t>LanceDB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43365" y="3438144"/>
            <a:ext cx="4481401" cy="658368"/>
          </a:xfrm>
          <a:prstGeom prst="roundRect">
            <a:avLst>
              <a:gd name="adj" fmla="val 4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81109" y="3520439"/>
            <a:ext cx="40242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shelf_facts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1109" y="3721607"/>
            <a:ext cx="27440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4A5B53"/>
                </a:solidFill>
                <a:latin typeface="Segoe UI"/>
              </a:rPr>
              <a:t>serie diaria de precios, particionada
raw_offers inmutable con checksum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1999" y="3712463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40" b="1" i="0">
                <a:solidFill>
                  <a:srgbClr val="1B5E9E"/>
                </a:solidFill>
                <a:latin typeface="Segoe UI"/>
              </a:rPr>
              <a:t>PostgreSQL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43365" y="4169663"/>
            <a:ext cx="4481401" cy="658368"/>
          </a:xfrm>
          <a:prstGeom prst="roundRect">
            <a:avLst>
              <a:gd name="adj" fmla="val 4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109" y="4251959"/>
            <a:ext cx="40242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catalogo_comercial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81109" y="4453127"/>
            <a:ext cx="27440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4A5B53"/>
                </a:solidFill>
                <a:latin typeface="Segoe UI"/>
              </a:rPr>
              <a:t>ProductoEnMercado con fuente, URL y fecha
N1/N2 directo · N3 solo promovido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1999" y="4443983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40" b="1" i="0">
                <a:solidFill>
                  <a:srgbClr val="1B5E9E"/>
                </a:solidFill>
                <a:latin typeface="Segoe UI"/>
              </a:rPr>
              <a:t>PostgreSQL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43365" y="4901183"/>
            <a:ext cx="4481401" cy="658368"/>
          </a:xfrm>
          <a:prstGeom prst="roundRect">
            <a:avLst>
              <a:gd name="adj" fmla="val 4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109" y="4983479"/>
            <a:ext cx="40242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staging_agente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81109" y="5184647"/>
            <a:ext cx="27440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4A5B53"/>
                </a:solidFill>
                <a:latin typeface="Segoe UI"/>
              </a:rPr>
              <a:t>cuarentena del agente, con TTL
no_verificado hasta la promoción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1999" y="5175503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40" b="1" i="0">
                <a:solidFill>
                  <a:srgbClr val="1B5E9E"/>
                </a:solidFill>
                <a:latin typeface="Segoe UI"/>
              </a:rPr>
              <a:t>PostgreSQL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43365" y="5632703"/>
            <a:ext cx="4481401" cy="658368"/>
          </a:xfrm>
          <a:prstGeom prst="roundRect">
            <a:avLst>
              <a:gd name="adj" fmla="val 4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81109" y="5714999"/>
            <a:ext cx="40242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4221C"/>
                </a:solidFill>
                <a:latin typeface="Segoe UI"/>
              </a:rPr>
              <a:t>Estado de aplicación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81109" y="5916167"/>
            <a:ext cx="27440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4A5B53"/>
                </a:solidFill>
                <a:latin typeface="Segoe UI"/>
              </a:rPr>
              <a:t>ejecuciones, etapas, caché de LLM, informes
RLS por organización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1999" y="5907023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40" b="1" i="0">
                <a:solidFill>
                  <a:srgbClr val="1B5E9E"/>
                </a:solidFill>
                <a:latin typeface="Segoe UI"/>
              </a:rPr>
              <a:t>PostgreSQL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27278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B8760B"/>
                </a:solidFill>
                <a:latin typeface="Segoe UI"/>
              </a:rPr>
              <a:t>Advertencia jurídica registrada: la licencia ODbL de Open Food Facts obliga a compartir bases de datos derivadas, no obras producidas. Vender informes es seguro; vender el dataset no lo 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7 · INFRAESTRUCTURA DEL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Despliegue en Huawei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Decisión tomada: todo dentro de Huawei, incluida la base de datos. El dato no sale de la región contratada.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6855860" cy="3977639"/>
          </a:xfrm>
          <a:prstGeom prst="roundRect">
            <a:avLst>
              <a:gd name="adj" fmla="val 3000"/>
            </a:avLst>
          </a:prstGeom>
          <a:solidFill>
            <a:srgbClr val="F6F9F7"/>
          </a:solidFill>
          <a:ln w="1778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7A45"/>
                </a:solidFill>
                <a:latin typeface="Segoe UI"/>
              </a:rPr>
              <a:t>VPC PRIVADA  ·  LA-Santiago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2212848"/>
            <a:ext cx="6307220" cy="1956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5915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4221C"/>
                </a:solidFill>
                <a:latin typeface="Segoe UI"/>
              </a:rPr>
              <a:t>ECS · 8 GB de 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615184"/>
            <a:ext cx="58500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7C8A84"/>
                </a:solidFill>
                <a:latin typeface="Segoe UI"/>
              </a:rPr>
              <a:t>El tamaño lo fija el modelo de embeddings, no el tráfico.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926080"/>
            <a:ext cx="2879290" cy="475488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99232"/>
            <a:ext cx="25501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0E7A45"/>
                </a:solidFill>
                <a:latin typeface="Segoe UI"/>
              </a:rPr>
              <a:t>Nginx + SPA 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82112"/>
            <a:ext cx="25501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4A5B53"/>
                </a:solidFill>
                <a:latin typeface="Segoe UI"/>
              </a:rPr>
              <a:t>173 KB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4586" y="2926080"/>
            <a:ext cx="2879290" cy="475488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9178" y="2999232"/>
            <a:ext cx="25501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0E7A45"/>
                </a:solidFill>
                <a:latin typeface="Segoe UI"/>
              </a:rPr>
              <a:t>FastAPI (uvicorn)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9178" y="3182112"/>
            <a:ext cx="25501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4A5B53"/>
                </a:solidFill>
                <a:latin typeface="Segoe UI"/>
              </a:rPr>
              <a:t>~60 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493008"/>
            <a:ext cx="2879290" cy="475488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566160"/>
            <a:ext cx="25501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0E7A45"/>
                </a:solidFill>
                <a:latin typeface="Segoe UI"/>
              </a:rPr>
              <a:t>Worker procrastinate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749040"/>
            <a:ext cx="25501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4A5B53"/>
                </a:solidFill>
                <a:latin typeface="Segoe UI"/>
              </a:rPr>
              <a:t>jobs async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4586" y="3493008"/>
            <a:ext cx="2879290" cy="475488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9178" y="3566160"/>
            <a:ext cx="25501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0E7A45"/>
                </a:solidFill>
                <a:latin typeface="Segoe UI"/>
              </a:rPr>
              <a:t>bge-m3 en memoria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9178" y="3749040"/>
            <a:ext cx="25501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4A5B53"/>
                </a:solidFill>
                <a:latin typeface="Segoe UI"/>
              </a:rPr>
              <a:t>2,3 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7" y="4370832"/>
            <a:ext cx="3043882" cy="1005840"/>
          </a:xfrm>
          <a:prstGeom prst="roundRect">
            <a:avLst>
              <a:gd name="adj" fmla="val 4000"/>
            </a:avLst>
          </a:prstGeom>
          <a:solidFill>
            <a:srgbClr val="E8F1F9"/>
          </a:solidFill>
          <a:ln w="1524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RDS for PostgreSQL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IP privada, sin superficie pública
RTT &lt; 2 ms  (antes: 40-60 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04586" y="4370832"/>
            <a:ext cx="3043882" cy="1005840"/>
          </a:xfrm>
          <a:prstGeom prst="roundRect">
            <a:avLst>
              <a:gd name="adj" fmla="val 4000"/>
            </a:avLst>
          </a:prstGeom>
          <a:solidFill>
            <a:srgbClr val="E8F1F9"/>
          </a:solidFill>
          <a:ln w="1524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B5E9E"/>
                </a:solidFill>
                <a:latin typeface="Segoe UI"/>
              </a:rPr>
              <a:t>OBS · almacén de objetos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PDFs de informes y copia del snapshot
URL firmada de 1 hora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63189" y="4169663"/>
            <a:ext cx="0" cy="201169"/>
          </a:xfrm>
          <a:prstGeom prst="line">
            <a:avLst/>
          </a:prstGeom>
          <a:ln w="17780">
            <a:solidFill>
              <a:srgbClr val="C2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26527" y="4169663"/>
            <a:ext cx="0" cy="201169"/>
          </a:xfrm>
          <a:prstGeom prst="line">
            <a:avLst/>
          </a:prstGeom>
          <a:ln w="17780">
            <a:solidFill>
              <a:srgbClr val="C2D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06836" y="1691640"/>
            <a:ext cx="38179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8760B"/>
                </a:solidFill>
                <a:latin typeface="Segoe UI"/>
              </a:rPr>
              <a:t>SERVICIOS EXTERNOS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06836" y="2048256"/>
            <a:ext cx="3817930" cy="859536"/>
          </a:xfrm>
          <a:prstGeom prst="roundRect">
            <a:avLst>
              <a:gd name="adj" fmla="val 4000"/>
            </a:avLst>
          </a:prstGeom>
          <a:solidFill>
            <a:srgbClr val="F1EAF8"/>
          </a:solidFill>
          <a:ln w="13970">
            <a:solidFill>
              <a:srgbClr val="D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4580" y="2176272"/>
            <a:ext cx="336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3F8E"/>
                </a:solidFill>
                <a:latin typeface="Segoe UI"/>
              </a:rPr>
              <a:t>ModelArts MaaS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4580" y="2414016"/>
            <a:ext cx="336073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Los tres modelos GLM, ya contratados.
US$ 0,19-0,23 por corrida premium en frío.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7495940" y="2340864"/>
            <a:ext cx="256032" cy="219456"/>
          </a:xfrm>
          <a:prstGeom prst="leftArrow">
            <a:avLst/>
          </a:prstGeom>
          <a:solidFill>
            <a:srgbClr val="DF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06836" y="3008376"/>
            <a:ext cx="3817930" cy="859536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4580" y="3136392"/>
            <a:ext cx="336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760B"/>
                </a:solidFill>
                <a:latin typeface="Segoe UI"/>
              </a:rPr>
              <a:t>Tavily · Brave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4580" y="3374136"/>
            <a:ext cx="336073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Búsqueda web del agente, con conmutación por fallo entre ambos.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7495940" y="3300984"/>
            <a:ext cx="256032" cy="219456"/>
          </a:xfrm>
          <a:prstGeom prst="leftArrow">
            <a:avLst/>
          </a:prstGeom>
          <a:solidFill>
            <a:srgbClr val="EE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06836" y="3968496"/>
            <a:ext cx="3817930" cy="859536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4580" y="4096511"/>
            <a:ext cx="336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760B"/>
                </a:solidFill>
                <a:latin typeface="Segoe UI"/>
              </a:rPr>
              <a:t>Bright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4580" y="4334256"/>
            <a:ext cx="336073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Las 5 tiendas con anti-bot fuerte. Modelo asíncrono con webhook.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7495940" y="4261104"/>
            <a:ext cx="256032" cy="219456"/>
          </a:xfrm>
          <a:prstGeom prst="leftArrow">
            <a:avLst/>
          </a:prstGeom>
          <a:solidFill>
            <a:srgbClr val="EE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06836" y="4928616"/>
            <a:ext cx="3817930" cy="859536"/>
          </a:xfrm>
          <a:prstGeom prst="roundRect">
            <a:avLst>
              <a:gd name="adj" fmla="val 4000"/>
            </a:avLst>
          </a:prstGeom>
          <a:solidFill>
            <a:srgbClr val="E7F4EC"/>
          </a:solidFill>
          <a:ln w="1397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4580" y="5056631"/>
            <a:ext cx="336073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A45"/>
                </a:solidFill>
                <a:latin typeface="Segoe UI"/>
              </a:rPr>
              <a:t>Fuentes públicas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4580" y="5294376"/>
            <a:ext cx="336073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4A5B53"/>
                </a:solidFill>
                <a:latin typeface="Segoe UI"/>
              </a:rPr>
              <a:t>eCFR, EFSA, openFDA, RASFF, Comtrade, OFF, USDA.</a:t>
            </a:r>
          </a:p>
        </p:txBody>
      </p:sp>
      <p:sp>
        <p:nvSpPr>
          <p:cNvPr id="43" name="Left Arrow 42"/>
          <p:cNvSpPr/>
          <p:nvPr/>
        </p:nvSpPr>
        <p:spPr>
          <a:xfrm>
            <a:off x="7495940" y="5221224"/>
            <a:ext cx="256032" cy="219456"/>
          </a:xfrm>
          <a:prstGeom prst="leftArrow">
            <a:avLst/>
          </a:prstGeom>
          <a:solidFill>
            <a:srgbClr val="BFD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" y="5870448"/>
            <a:ext cx="11057839" cy="566928"/>
          </a:xfrm>
          <a:prstGeom prst="roundRect">
            <a:avLst>
              <a:gd name="adj" fmla="val 5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 GPU.  La búsqueda vectorial se midió en CPU con 11× de margen sobre el techo comprometido, así que pagar una instancia con GPU en el MVP no compra nada.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EL PRESUPUESTO COMO INVARIANTE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Economía y control del gasto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El costo variable no es una estimación de fin de mes: es un límite que el código hace cumplir en tiempo de ejecución.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COSTO DEL DATO COMERCIAL, POR CONSULTA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6413546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45720" cy="658368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Consulta resuelta en N1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conector determinista, 42 tiendas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E7A45"/>
                </a:solidFill>
                <a:latin typeface="Segoe UI"/>
              </a:rPr>
              <a:t>US$ 0,0001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24728" y="2267712"/>
            <a:ext cx="92714" cy="1645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743200"/>
            <a:ext cx="6413546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43200"/>
            <a:ext cx="45720" cy="658368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5292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Barrido semanal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9067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50 productos × 42 tiendas en N1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926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0E7A45"/>
                </a:solidFill>
                <a:latin typeface="Segoe UI"/>
              </a:rPr>
              <a:t>US$ 0,60 / año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8" y="2999232"/>
            <a:ext cx="148343" cy="16459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474720"/>
            <a:ext cx="6413546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474720"/>
            <a:ext cx="45720" cy="658368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8444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Nivel licenciado 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822191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5 tiendas con anti-bot fuerte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657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1B5E9E"/>
                </a:solidFill>
                <a:latin typeface="Segoe UI"/>
              </a:rPr>
              <a:t>US$ 200 / año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24728" y="3730752"/>
            <a:ext cx="389401" cy="16459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4206240"/>
            <a:ext cx="6413546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206240"/>
            <a:ext cx="45720" cy="658368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31596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221C"/>
                </a:solidFill>
                <a:latin typeface="Segoe UI"/>
              </a:rPr>
              <a:t>Corrida del agente N3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5537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4A5B53"/>
                </a:solidFill>
                <a:latin typeface="Segoe UI"/>
              </a:rPr>
              <a:t>solo para los huecos que nadie más cubre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8" y="4389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B8760B"/>
                </a:solidFill>
                <a:latin typeface="Segoe UI"/>
              </a:rPr>
              <a:t>US$ 0,25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24728" y="4462272"/>
            <a:ext cx="927146" cy="164592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4522" y="1664208"/>
            <a:ext cx="42602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8760B"/>
                </a:solidFill>
                <a:latin typeface="Segoe UI"/>
              </a:rPr>
              <a:t>LOS TRES TOPES Y EL FRENO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4522" y="2011680"/>
            <a:ext cx="4260244" cy="566928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2266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8760B"/>
                </a:solidFill>
                <a:latin typeface="Segoe UI"/>
              </a:rPr>
              <a:t>US$ 0,25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6202" y="2212848"/>
            <a:ext cx="19742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por corrida de agente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4522" y="2670048"/>
            <a:ext cx="4260244" cy="566928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2266" y="2816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8760B"/>
                </a:solidFill>
                <a:latin typeface="Segoe UI"/>
              </a:rPr>
              <a:t>US$ 2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6202" y="2871216"/>
            <a:ext cx="19742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por cliente y mes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4522" y="3328415"/>
            <a:ext cx="4260244" cy="566928"/>
          </a:xfrm>
          <a:prstGeom prst="roundRect">
            <a:avLst>
              <a:gd name="adj" fmla="val 4000"/>
            </a:avLst>
          </a:prstGeom>
          <a:solidFill>
            <a:srgbClr val="FDF3E0"/>
          </a:solidFill>
          <a:ln w="1397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2266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8760B"/>
                </a:solidFill>
                <a:latin typeface="Segoe UI"/>
              </a:rPr>
              <a:t>US$ 10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6202" y="3529584"/>
            <a:ext cx="19742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global por mes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4522" y="4041647"/>
            <a:ext cx="4260244" cy="1207008"/>
          </a:xfrm>
          <a:prstGeom prst="roundRect">
            <a:avLst>
              <a:gd name="adj" fmla="val 4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54864" bIns="54864"/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BECEA"/>
                </a:solidFill>
                <a:latin typeface="Segoe UI"/>
              </a:rPr>
              <a:t>KILL-SWITCH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C5D8CE"/>
                </a:solidFill>
                <a:latin typeface="Segoe UI"/>
              </a:rPr>
              <a:t>Al llegar al tope, la corrida termina en estado «parcial» con los campos que sí obtuvo. La cascada degrada a «sin dato». Nunca devuelve error y nunca reintenta por su cuenta.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138928"/>
            <a:ext cx="11057839" cy="82296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1524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303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221C"/>
                </a:solidFill>
                <a:latin typeface="Segoe UI"/>
              </a:rPr>
              <a:t>Costo total medido de una consulta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5778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B53"/>
                </a:solidFill>
                <a:latin typeface="Segoe UI"/>
              </a:rPr>
              <a:t>Incluye los cinco pasos de LLM de una corrida premium en frío. La segunda consulta idéntica cuesta menos por el acierto de caché.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52669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 i="0">
                <a:solidFill>
                  <a:srgbClr val="0E7A45"/>
                </a:solidFill>
                <a:latin typeface="Segoe UI"/>
              </a:rPr>
              <a:t>US$ 0,01–0,05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6692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C8A84"/>
                </a:solidFill>
                <a:latin typeface="Segoe UI"/>
              </a:rPr>
              <a:t>plan gratuito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526694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 i="0">
                <a:solidFill>
                  <a:srgbClr val="6B3F8E"/>
                </a:solidFill>
                <a:latin typeface="Segoe UI"/>
              </a:rPr>
              <a:t>US$ 0,19–0,23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566928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C8A84"/>
                </a:solidFill>
                <a:latin typeface="Segoe UI"/>
              </a:rPr>
              <a:t>corrida premium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14476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7C8A84"/>
                </a:solidFill>
                <a:latin typeface="Segoe UI"/>
              </a:rPr>
              <a:t>Infraestructura de producción estimada (v3): ~US$ 1.000 al mes, con crecimiento lineal en el número de tiendas, no exponencial.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PLAN DE PRUEBAS DE PUNTA A PUNTA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Cómo se demuestra que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Veinte pruebas nombradas, cada una atada a una promesa concreta del sistema. El criterio de entrega es que estén todas en verde.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865376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83664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Aislamiento entre clientes (RLS)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107" y="1737360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5123" y="1865376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0339" y="1883664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Interpretación + acierto de caché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737360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03" y="1865376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0519" y="1883664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Búsqueda local p95 &lt; 2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467" y="1737360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25483" y="1865376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699" y="1883664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Mapa comercial sin datos inventados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395728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944" y="2523744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42032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Cada afirmación con su cita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7107" y="2395728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05123" y="2523744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0339" y="2542032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Paywall con informe parcial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2395728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2523744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519" y="2542032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Hipótesis de formulación premium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467" y="2395728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25483" y="2523744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699" y="2542032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Citas regulatorias verificables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054096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4944" y="3182112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200400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Informe PDF + auditoría del DAG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7107" y="3054096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05123" y="3182112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0339" y="3200400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MIM: tendencias y reportes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3054096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15303" y="3182112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0519" y="3200400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Agente → cuarentena → promoción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467" y="3054096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5483" y="3182112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699" y="3200400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Topes de presupuesto + kill-switch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3712464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4944" y="3840480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3858768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Medidor de costo por cliente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77107" y="3712464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05123" y="3840480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0339" y="3858768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Cobertura declarada, incluida la que falta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7287" y="3712464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15303" y="3840480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0E7A45"/>
                </a:solidFill>
                <a:latin typeface="Segoe UI"/>
              </a:rPr>
              <a:t>P15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0519" y="3858768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Gate de categoría (quinua ≠ cosmético)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97467" y="3712464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25483" y="3840480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699" y="3858768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Failover de infraestructura &lt; 30 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370831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4944" y="4498847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4517136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Failover del agente (Tavily → Brave)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77107" y="4370831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505123" y="4498847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90339" y="4517136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Integridad del corpus regulatorio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87287" y="4370831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15303" y="4498847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0519" y="4517136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Canario diario de conectores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97467" y="4370831"/>
            <a:ext cx="2627299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5483" y="4498847"/>
            <a:ext cx="493776" cy="310896"/>
          </a:xfrm>
          <a:prstGeom prst="roundRect">
            <a:avLst>
              <a:gd name="adj" fmla="val 3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B8760B"/>
                </a:solidFill>
                <a:latin typeface="Segoe UI"/>
              </a:rPr>
              <a:t>P20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0699" y="4517136"/>
            <a:ext cx="17860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14221C"/>
                </a:solidFill>
                <a:latin typeface="Segoe UI"/>
              </a:rPr>
              <a:t>Alertas de retiro en el dossier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138928"/>
            <a:ext cx="3931920" cy="347472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E7A45"/>
                </a:solidFill>
                <a:latin typeface="Segoe UI"/>
              </a:rPr>
              <a:t>Cubiertas por la demo v2  ·  10 en verde hoy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81728" y="5138928"/>
            <a:ext cx="3931920" cy="347472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9525">
            <a:solidFill>
              <a:srgbClr val="EED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760B"/>
                </a:solidFill>
                <a:latin typeface="Segoe UI"/>
              </a:rPr>
              <a:t>Cierran en producción v3  ·  10 pendientes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669280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6F9F7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54864" bIns="54864"/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A5B53"/>
                </a:solidFill>
                <a:latin typeface="Segoe UI"/>
              </a:rPr>
              <a:t>Además, en integración continua antes de cada entrega:  conjunto dorado de ~30 productos reales  ·  validación de esquema de todos los contratos  ·  prueba de humo del DAG completo con cuenta premium  ·  pruebas de carga (50 req/s sostenidos, pico de 500).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DIAGRAMA 8 · 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De la demo al producto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v2 demuestra el eje de valor con datos reales reducidos. v3 no es «más funciones»: es lo que hace falta para firmar un acuerdo de nivel de servicio.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035808"/>
            <a:ext cx="11057839" cy="4572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55648"/>
            <a:ext cx="3317351" cy="621792"/>
          </a:xfrm>
          <a:prstGeom prst="roundRect">
            <a:avLst>
              <a:gd name="adj" fmla="val 6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9656"/>
            <a:ext cx="27321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v2  · 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75688"/>
            <a:ext cx="2732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CBE0D5"/>
                </a:solidFill>
                <a:latin typeface="Segoe UI"/>
              </a:rPr>
              <a:t>4 semanas   ·   Agosto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32304"/>
            <a:ext cx="3317351" cy="512064"/>
          </a:xfrm>
          <a:prstGeom prst="roundRect">
            <a:avLst>
              <a:gd name="adj" fmla="val 4000"/>
            </a:avLst>
          </a:prstGeom>
          <a:solidFill>
            <a:srgbClr val="E7F4EC"/>
          </a:solidFill>
          <a:ln w="12700">
            <a:solidFill>
              <a:srgbClr val="BF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3374136"/>
            <a:ext cx="45720" cy="11887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310128"/>
            <a:ext cx="2494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Motor de 6 etapas sobre código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703320"/>
            <a:ext cx="45720" cy="11887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639312"/>
            <a:ext cx="2494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Shelf Radar N1: 42 tiendas vivas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4032504"/>
            <a:ext cx="45720" cy="11887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68496"/>
            <a:ext cx="2494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Multi-tenant y paywall reales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4361688"/>
            <a:ext cx="45720" cy="118872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97680"/>
            <a:ext cx="2494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10 de 15 pruebas en verde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2926080"/>
            <a:ext cx="256032" cy="256032"/>
          </a:xfrm>
          <a:prstGeom prst="ellipse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6593" y="1755648"/>
            <a:ext cx="7298173" cy="621792"/>
          </a:xfrm>
          <a:prstGeom prst="roundRect">
            <a:avLst>
              <a:gd name="adj" fmla="val 6000"/>
            </a:avLst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9201" y="1819656"/>
            <a:ext cx="67129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v3  ·  PRODUCCIÓN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201" y="2075688"/>
            <a:ext cx="671295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CBE0D5"/>
                </a:solidFill>
                <a:latin typeface="Segoe UI"/>
              </a:rPr>
              <a:t>11 semanas   ·   Octubre 2026 → Enero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6593" y="2432304"/>
            <a:ext cx="7298173" cy="512064"/>
          </a:xfrm>
          <a:prstGeom prst="roundRect">
            <a:avLst>
              <a:gd name="adj" fmla="val 4000"/>
            </a:avLst>
          </a:prstGeom>
          <a:solidFill>
            <a:srgbClr val="E8F1F9"/>
          </a:solidFill>
          <a:ln w="1270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9201" y="3374136"/>
            <a:ext cx="45720" cy="11887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3793" y="3310128"/>
            <a:ext cx="64752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Agente operativo con cuarentena y promoción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9201" y="3703320"/>
            <a:ext cx="45720" cy="11887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3793" y="3639312"/>
            <a:ext cx="64752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Corpus regulatorio completo + alertas de retiro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9201" y="4032504"/>
            <a:ext cx="45720" cy="11887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3793" y="3968496"/>
            <a:ext cx="64752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N2 licenciado y conectores dinámicos: 97+ tiendas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9201" y="4361688"/>
            <a:ext cx="45720" cy="11887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3793" y="4297680"/>
            <a:ext cx="64752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Observabilidad, réplicas, respaldos y SLOs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9201" y="4690872"/>
            <a:ext cx="45720" cy="118872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3793" y="4626864"/>
            <a:ext cx="64752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B53"/>
                </a:solidFill>
                <a:latin typeface="Segoe UI"/>
              </a:rPr>
              <a:t>Panel CITE completo y capacitación</a:t>
            </a:r>
          </a:p>
        </p:txBody>
      </p:sp>
      <p:sp>
        <p:nvSpPr>
          <p:cNvPr id="34" name="Oval 33"/>
          <p:cNvSpPr/>
          <p:nvPr/>
        </p:nvSpPr>
        <p:spPr>
          <a:xfrm>
            <a:off x="4418033" y="2926080"/>
            <a:ext cx="256032" cy="256032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26593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S1 Infra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98376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S2 Agente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0159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S3 Cola + MIM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1942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S4 Regulación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13725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S5 Conectores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5508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S6 Alertas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291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S7 Promoción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074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S8 Panel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00857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S9 Carga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72641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S10 Modelos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44424" y="2487168"/>
            <a:ext cx="580343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C2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740" b="1" i="0">
                <a:solidFill>
                  <a:srgbClr val="1B5E9E"/>
                </a:solidFill>
                <a:latin typeface="Segoe UI"/>
              </a:rPr>
              <a:t>S11 Go-live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2505456"/>
            <a:ext cx="33173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1">
                <a:solidFill>
                  <a:srgbClr val="0E7A45"/>
                </a:solidFill>
                <a:latin typeface="Segoe UI"/>
              </a:rPr>
              <a:t>En curso  ·  el walking skeleton ya corre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13892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303520"/>
            <a:ext cx="10289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A466"/>
                </a:solidFill>
                <a:latin typeface="Segoe UI"/>
              </a:rPr>
              <a:t>La decisión con fecha de vencimiento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" y="5577840"/>
            <a:ext cx="102897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C5D8CE"/>
                </a:solidFill>
                <a:latin typeface="Segoe UI"/>
              </a:rPr>
              <a:t>El motor de tendencias exige ocho trimestres de histórico y la serie propia empieza en cero. Cada semana que se posterga el barrido diario es una semana que faltará en 2028: el histórico no se compra retroactivamente.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A466"/>
                </a:solidFill>
                <a:latin typeface="Segoe UI"/>
              </a:rPr>
              <a:t>LO QUE PUEDE SALIR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21C"/>
                </a:solidFill>
                <a:latin typeface="Segoe UI"/>
              </a:rPr>
              <a:t>Riesgos y cómo están mitigados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A5B53"/>
                </a:solidFill>
                <a:latin typeface="Segoe UI"/>
              </a:rPr>
              <a:t>Ninguno de estos riesgos es nuevo para el comité: todos están registrados con su mitigación en el repositorio.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4373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7C8A84"/>
                </a:solidFill>
                <a:latin typeface="Segoe UI"/>
              </a:rPr>
              <a:t>AgroScout IA ·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5391759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45720" cy="1335024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4879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14221C"/>
                </a:solidFill>
                <a:latin typeface="Segoe UI"/>
              </a:rPr>
              <a:t>Un conector se rompe cuando la tienda rediseña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879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8760B"/>
                </a:solidFill>
                <a:latin typeface="Segoe UI"/>
              </a:rPr>
              <a:t>Impacto:  Pérdida silenciosa de cobertura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32304"/>
            <a:ext cx="4879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4A5B53"/>
                </a:solidFill>
                <a:latin typeface="Segoe UI"/>
              </a:rPr>
              <a:t>Canario diario con aserciones sobre un producto conocido, y una fila por tienda en sweep_attempts que hace visible el hueco.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00784"/>
            <a:ext cx="5391759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00784"/>
            <a:ext cx="45720" cy="1335024"/>
          </a:xfrm>
          <a:prstGeom prst="rect">
            <a:avLst/>
          </a:prstGeom>
          <a:solidFill>
            <a:srgbClr val="B8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847088"/>
            <a:ext cx="4879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14221C"/>
                </a:solidFill>
                <a:latin typeface="Segoe UI"/>
              </a:rPr>
              <a:t>Una tienda bloquea el acceso por comportamiento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176272"/>
            <a:ext cx="4879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8760B"/>
                </a:solidFill>
                <a:latin typeface="Segoe UI"/>
              </a:rPr>
              <a:t>Impacto:  La tienda cae del 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2432304"/>
            <a:ext cx="4879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4A5B53"/>
                </a:solidFill>
                <a:latin typeface="Segoe UI"/>
              </a:rPr>
              <a:t>Límite de ritmo conservador (0,4 req/s), user-agent identificado con página de exclusión y cortacircuitos de 6 horas tras 3 fallos.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2112"/>
            <a:ext cx="5391759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182112"/>
            <a:ext cx="45720" cy="1335024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28416"/>
            <a:ext cx="4879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14221C"/>
                </a:solidFill>
                <a:latin typeface="Segoe UI"/>
              </a:rPr>
              <a:t>Los términos de uso de un sitio prohíben el rastreo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4879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3A30"/>
                </a:solidFill>
                <a:latin typeface="Segoe UI"/>
              </a:rPr>
              <a:t>Impacto:  No se puede obtener el dato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13632"/>
            <a:ext cx="4879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4A5B53"/>
                </a:solidFill>
                <a:latin typeface="Segoe UI"/>
              </a:rPr>
              <a:t>Niveles de permiso P0–P4: lo prohibido no se consulta, se declara o se licencia. Prohibición de evadir anti-bots verificada en integración continua.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82112"/>
            <a:ext cx="5391759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182112"/>
            <a:ext cx="45720" cy="1335024"/>
          </a:xfrm>
          <a:prstGeom prst="rect">
            <a:avLst/>
          </a:prstGeom>
          <a:solidFill>
            <a:srgbClr val="B0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9039" y="3328416"/>
            <a:ext cx="4879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14221C"/>
                </a:solidFill>
                <a:latin typeface="Segoe UI"/>
              </a:rPr>
              <a:t>Sesgo de cobertura: solo se mide donde es fácil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9039" y="3657600"/>
            <a:ext cx="4879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03A30"/>
                </a:solidFill>
                <a:latin typeface="Segoe UI"/>
              </a:rPr>
              <a:t>Impacto:  Conclusiones torcidas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9039" y="3913632"/>
            <a:ext cx="4879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4A5B53"/>
                </a:solidFill>
                <a:latin typeface="Segoe UI"/>
              </a:rPr>
              <a:t>Porcentaje de cobertura por país en cada informe, y prohibición de promediar países con cobertura desigual.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63440"/>
            <a:ext cx="5391759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663440"/>
            <a:ext cx="45720" cy="1335024"/>
          </a:xfrm>
          <a:prstGeom prst="rect">
            <a:avLst/>
          </a:prstGeom>
          <a:solidFill>
            <a:srgbClr val="6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09744"/>
            <a:ext cx="4879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14221C"/>
                </a:solidFill>
                <a:latin typeface="Segoe UI"/>
              </a:rPr>
              <a:t>La licencia ODbL restringe la distribución del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38928"/>
            <a:ext cx="4879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B3F8E"/>
                </a:solidFill>
                <a:latin typeface="Segoe UI"/>
              </a:rPr>
              <a:t>Impacto:  Riesgo contractual con un cliente empresarial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94960"/>
            <a:ext cx="4879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4A5B53"/>
                </a:solidFill>
                <a:latin typeface="Segoe UI"/>
              </a:rPr>
              <a:t>Se venden obras producidas (informes y fichas), no bases de datos. Si un cliente pide el dataset, la cláusula aplica y hay que decirlo antes de firmar.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663440"/>
            <a:ext cx="5391759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007" y="4663440"/>
            <a:ext cx="45720" cy="1335024"/>
          </a:xfrm>
          <a:prstGeom prst="rect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9039" y="4809744"/>
            <a:ext cx="4879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14221C"/>
                </a:solidFill>
                <a:latin typeface="Segoe UI"/>
              </a:rPr>
              <a:t>El proveedor de modelos cambia su tarifa o su modelo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9039" y="5138928"/>
            <a:ext cx="4879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5E9E"/>
                </a:solidFill>
                <a:latin typeface="Segoe UI"/>
              </a:rPr>
              <a:t>Impacto:  El costo por consulta se dispara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9039" y="5394960"/>
            <a:ext cx="4879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>
                <a:solidFill>
                  <a:srgbClr val="4A5B53"/>
                </a:solidFill>
                <a:latin typeface="Segoe UI"/>
              </a:rPr>
              <a:t>Los modelos entran por un puerto único: sustituir GLM por Qwen es configuración. Versión de modelo fijada en el snapshot para reproducibilidad.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280160"/>
            <a:ext cx="2560320" cy="2560320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517904"/>
            <a:ext cx="2377439" cy="2377439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19" y="1755648"/>
            <a:ext cx="2194560" cy="2194560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0" y="1993391"/>
            <a:ext cx="2011679" cy="2011679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59" y="2231136"/>
            <a:ext cx="1828799" cy="1828799"/>
          </a:xfrm>
          <a:prstGeom prst="ellipse">
            <a:avLst/>
          </a:prstGeom>
          <a:noFill/>
          <a:ln w="17780">
            <a:solidFill>
              <a:srgbClr val="163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18872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A466"/>
                </a:solidFill>
                <a:latin typeface="Segoe UI"/>
              </a:rPr>
              <a:t>LO QUE SE PIDE AL COMITÉ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72768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Aprobar el paso de v2 a producción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7889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0720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Aprobar el plan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9815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FB5"/>
                </a:solidFill>
                <a:latin typeface="Segoe UI"/>
              </a:rPr>
              <a:t>11 semanas, ~80-100 días-persona, arranque previsto tras la firma.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72160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39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Aprobar el presupuesto de operación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32504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FB5"/>
                </a:solidFill>
                <a:latin typeface="Segoe UI"/>
              </a:rPr>
              <a:t>~US$ 1.000 al mes de infraestructura más US$ 200 al año de la fuente licenciada.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6542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72583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Autorizar el arranque inmediato del barrido diario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65192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FB5"/>
                </a:solidFill>
                <a:latin typeface="Segoe UI"/>
              </a:rPr>
              <a:t>No depende de v3 y no se puede recuperar después: el histórico de tendencias no se compra retroactivamente.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5806440"/>
            <a:ext cx="2011680" cy="32004"/>
          </a:xfrm>
          <a:prstGeom prst="rect">
            <a:avLst/>
          </a:prstGeom>
          <a:solidFill>
            <a:srgbClr val="0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89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8EAB9C"/>
                </a:solidFill>
                <a:latin typeface="Segoe UI"/>
              </a:rPr>
              <a:t>«Lo que v2 hizo honesto con cinco insumos, v3 lo hace fiable en producción. Cada dato es verificable, cada costo está auditado, cada alerta es accionable.»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