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AgroScout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154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74C69D"/>
                </a:solidFill>
                <a:latin typeface="Calibri"/>
              </a:rPr>
              <a:t>Inteligencia de mercado para la agroindustria, con datos verificables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3291840" cy="4572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CITEagroindustrial Chavimochic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DEE2E6"/>
                </a:solidFill>
                <a:latin typeface="Calibri"/>
              </a:rPr>
              <a:t>Producto Mínimo Viable · agosto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74C69D"/>
                </a:solidFill>
                <a:latin typeface="Calibri"/>
              </a:rPr>
              <a:t>Todas las cifras de esta presentación están medidas sobre el sistema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Un residuo agroindustrial no tiene precio hasta que alguien demuestra que tiene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3520440" cy="10972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2D6A4F"/>
                </a:solidFill>
                <a:latin typeface="Calibri"/>
              </a:rPr>
              <a:t>La pregunta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«Tengo cáscara de mango / descarte de espárrago. ¿Alguien en el mundo vende algo hecho con esto?»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520440" cy="10972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76F51"/>
                </a:solidFill>
                <a:latin typeface="Calibri"/>
              </a:rPr>
              <a:t>La respuesta 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7180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Consultoría internacional de tendencias: miles de dólares, semanas de espera y un PDF que no se puede auditar.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031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03120"/>
            <a:ext cx="3520440" cy="109728"/>
          </a:xfrm>
          <a:prstGeom prst="rect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495057"/>
                </a:solidFill>
                <a:latin typeface="Calibri"/>
              </a:rPr>
              <a:t>El riesgo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7180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Decidir una inversión sobre datos que nadie puede verificar, o no decidir nada.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El CITE necesita responder esa pregunta para cinco cadenas prioritarias de Chavimochic: arándano, palta, espárrago, mango y quinua.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Qué hace AgroScout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De una frase en español a un informe con fuentes, en menos de un minuto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4C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74C69D"/>
                </a:solidFill>
                <a:latin typeface="Calibri"/>
              </a:rPr>
              <a:t>Entrada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529"/>
                </a:solidFill>
                <a:latin typeface="Calibri"/>
              </a:rPr>
              <a:t>«cáscara de mango»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97480" y="3063240"/>
            <a:ext cx="256032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512" y="224028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Busca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29.054 productos reales del mercado mundial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65192" y="3063240"/>
            <a:ext cx="256032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21224" y="224028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Mapea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países, marcas y presentaciones donde ya se vende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32904" y="3063240"/>
            <a:ext cx="256032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88936" y="224028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Analiza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formulación probable y restricciones regulatorias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00616" y="3063240"/>
            <a:ext cx="256032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56648" y="224028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E76F51"/>
                </a:solidFill>
                <a:latin typeface="Calibri"/>
              </a:rPr>
              <a:t>Entrega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529"/>
                </a:solidFill>
                <a:latin typeface="Calibri"/>
              </a:rPr>
              <a:t>informe PDF con fuente, URL y fecha en cada dato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0916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La regla que lo gobierna todo: cero valores inventados.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B7E4C7"/>
                </a:solidFill>
                <a:latin typeface="Calibri"/>
              </a:rPr>
              <a:t>Todo dato lleva fuente, URL y fecha — o va vacío y se dice que está vacío.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Cómo funciona: seis etapas auditadas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Cada etapa se cachea, se audita y tiene su costo en dólares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1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Interpretar insumo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Buscar productos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31335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2b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Mapa comercial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4103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Insight de mercado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30567" y="2286000"/>
            <a:ext cx="45720" cy="18288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4206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76F51"/>
                </a:solidFill>
                <a:latin typeface="Calibri"/>
              </a:rPr>
              <a:t>PAYWALL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6871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Formulación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5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Regulación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22408" y="2468880"/>
            <a:ext cx="1371600" cy="146304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Informe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2D6A4F"/>
                </a:solidFill>
                <a:latin typeface="Calibri"/>
              </a:rPr>
              <a:t>Informe gratuito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Etapas 1 · 2 · 2b · 3 — qué existe hoy en el mercado y dónde se vende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262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E76F51"/>
                </a:solidFill>
                <a:latin typeface="Calibri"/>
              </a:rPr>
              <a:t>Informe premium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Añade 4 · 5 — cómo se formula y qué normativa aplica, con citas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El paywall es una frontera de composición de casos de uso: el usuario gratuito nunca paga los tokens del premium.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Hexagonal: el dominio no sabe en qué nube corre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352044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ProductoExistente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InsightDeMercado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1129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ProductoEnMercado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953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InformeScout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Sin dependencias externas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0312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03120"/>
            <a:ext cx="3520440" cy="4572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212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Casos de 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Evaluar insumo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272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Política de suscripción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1129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Presupuesto y kill-switch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953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Validadores de dato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43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Orquestan sobre puertos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10312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103120"/>
            <a:ext cx="3520440" cy="45720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212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Adaptadores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743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LanceDB · bge-m3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12724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ModelArts MaaS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51129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PostgreSQL · 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8953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WeasyPrint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43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Intercambiables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29200"/>
            <a:ext cx="10789920" cy="1005840"/>
          </a:xfrm>
          <a:prstGeom prst="roundRect">
            <a:avLst>
              <a:gd name="adj" fmla="val 8000"/>
            </a:avLst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B4332"/>
                </a:solidFill>
                <a:latin typeface="Calibri"/>
              </a:rPr>
              <a:t>Por qué importa, con un número real: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mover la base de datos de un proveedor a otro toca 2 adaptadores; 243 líneas de lógica de estado quedan intactas y el dominio no se entera.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Los datos: reales, versionados y verificables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Snapshot 2026-07 · reproducible con hash por 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4C69D"/>
                </a:solidFill>
                <a:latin typeface="Calibri"/>
              </a:rPr>
              <a:t>29.054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productos indexados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2148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4C69D"/>
                </a:solidFill>
                <a:latin typeface="Calibri"/>
              </a:rPr>
              <a:t>5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insumos piloto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1496" y="2148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4C69D"/>
                </a:solidFill>
                <a:latin typeface="Calibri"/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fuentes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4344" y="2148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4C69D"/>
                </a:solidFill>
                <a:latin typeface="Calibri"/>
              </a:rPr>
              <a:t>1.024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dimensiones por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192" y="214884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4C69D"/>
                </a:solidFill>
                <a:latin typeface="Calibri"/>
              </a:rPr>
              <a:t>0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productos sin URL ni fecha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3931920"/>
          <a:ext cx="1078991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705"/>
                <a:gridCol w="5885410"/>
                <a:gridCol w="1961803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Volumen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Open Food Facts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Productos del mercado mundial con marca, país e ingredientes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28.236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USDA Branded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Productos envasados de EE. UU. con fecha de modificación real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818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eCFR Title 21 · DIGESA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Corpus regulatorio indexado para citas verificables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734 pasajes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Cada fuente lleva su SHA256 en el manifest: la consulta de hoy se puede reconstruir dentro de un año.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Lo que sí tenemos y lo que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Cobertura medida sobre las 29.054 filas, no estimada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03120"/>
          <a:ext cx="67665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592"/>
                <a:gridCol w="2029968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Campo del mapa comercial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Cobertura real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URL del producto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Fecha del dato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Marca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País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99,6 %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Presentación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6F51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6F51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Canal de venta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6F51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2103120"/>
            <a:ext cx="3749039" cy="3218688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74C69D"/>
                </a:solidFill>
                <a:latin typeface="Calibri"/>
              </a:rPr>
              <a:t>Los tres ceros no se esconden</a:t>
            </a:r>
          </a:p>
          <a:p>
            <a:pPr algn="ctr">
              <a:spcAft>
                <a:spcPts val="200"/>
              </a:spcAft>
            </a:pPr>
            <a:r>
              <a:rPr sz="6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Ningún producto del mundo publica su precio en una base abierta.</a:t>
            </a:r>
          </a:p>
          <a:p>
            <a:pPr algn="ctr">
              <a:spcAft>
                <a:spcPts val="200"/>
              </a:spcAft>
            </a:pPr>
            <a:r>
              <a:rPr sz="6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Esos campos van vacíos y así se muestran: «sin dato».</a:t>
            </a:r>
          </a:p>
          <a:p>
            <a:pPr algn="ctr">
              <a:spcAft>
                <a:spcPts val="200"/>
              </a:spcAft>
            </a:pPr>
            <a:r>
              <a:rPr sz="6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B7E4C7"/>
                </a:solidFill>
                <a:latin typeface="Calibri"/>
              </a:rPr>
              <a:t>Ese hueco, cuantificado, es exactamente lo que llena el agente de la fase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Un competidor rellenaría esas casillas con una estimación. Nosotros preferimos que el CITE pueda auditar cada celda.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Rendimiento y calidad, con gates numéricos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Ningún hito se cierra sin su prueba en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176 ms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latencia p95 de búsqueda sobre 29.054 productos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495057"/>
                </a:solidFill>
                <a:latin typeface="Calibri"/>
              </a:rPr>
              <a:t>techo exigido: 2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11×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de margen sobre el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251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495057"/>
                </a:solidFill>
                <a:latin typeface="Calibri"/>
              </a:rPr>
              <a:t>medido en CPU, sin 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5 / 5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casos del set dorado en verde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251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495057"/>
                </a:solidFill>
                <a:latin typeface="Calibri"/>
              </a:rPr>
              <a:t>los 5 insumos piloto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2194560"/>
            <a:ext cx="2651760" cy="192024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18 / 18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pruebas automáticas del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251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495057"/>
                </a:solidFill>
                <a:latin typeface="Calibri"/>
              </a:rPr>
              <a:t>ejecutadas en cada cambio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3776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B4332"/>
                </a:solidFill>
                <a:latin typeface="Calibri"/>
              </a:rPr>
              <a:t>El método: cada etapa del proyecto cierra con un número, no con «parece que funciona».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12529"/>
                </a:solidFill>
                <a:latin typeface="Calibri"/>
              </a:rPr>
              <a:t>250 productos mínimos · 1.024 dimensiones · p95 &lt; 2 s · golden set 5/5 · SHA256 por fuente.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Modelo de negocio: el paywall funcionando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No es una maqueta: el usuario gratuito no consume los tokens del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03120"/>
          <a:ext cx="10789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Plan gratuito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Plan premium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Etapas del análisis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1 · 2 · 2b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1 · 2 · 2b · 3 · 4 ·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Qué entrega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Qué se vende hoy, en qué países y marcas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+ formulación probable y dossier regulatorio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Costo por consulta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≈ US$ 0,05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US$ 0,21 (medido)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Tope mensual por usuario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US$ 2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US$ 10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Al llegar al tope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6A4F"/>
                          </a:solidFill>
                          <a:latin typeface="Calibri"/>
                        </a:rPr>
                        <a:t>Informe parcial, nunca un 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D6A4F"/>
                          </a:solidFill>
                          <a:latin typeface="Calibri"/>
                        </a:rPr>
                        <a:t>Informe parcial, nunca un 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12529"/>
                </a:solidFill>
                <a:latin typeface="Calibri"/>
              </a:rPr>
              <a:t>El corte comercial y el corte técnico son distintos y el informe dice cuál aplica: «no hay suficientes productos» no es lo mismo que «esto es premium».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El gasto está acotado por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Tres topes y un interruptor, medidos consulta a consulta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74C69D"/>
                </a:solidFill>
                <a:latin typeface="Calibri"/>
              </a:rPr>
              <a:t>US$ 0,21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costo real de una consulta premium completa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B7E4C7"/>
                </a:solidFill>
                <a:latin typeface="Calibri"/>
              </a:rPr>
              <a:t>medido sobre las 5 etapas, no estimado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3035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7685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Por 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2585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D6A4F"/>
                </a:solidFill>
                <a:latin typeface="Calibri"/>
              </a:rPr>
              <a:t>US$ 0,25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07208"/>
            <a:ext cx="53035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93522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Por usuario y 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91693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D6A4F"/>
                </a:solidFill>
                <a:latin typeface="Calibri"/>
              </a:rPr>
              <a:t>US$ 2 –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65576"/>
            <a:ext cx="53035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935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Global institucional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57530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D6A4F"/>
                </a:solidFill>
                <a:latin typeface="Calibri"/>
              </a:rPr>
              <a:t>US$ 10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Kill-switch: al llegar al tope, el sistema degrada a «sin dato».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Nunca devuelve un error y nunca reintenta solo.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B4332"/>
                </a:solidFill>
                <a:latin typeface="Calibri"/>
              </a:rPr>
              <a:t>Cada consulta guarda su factura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El panel muestra el costo por etapa, por consulta y por mes. Ninguna cifra de esta presentación es una proyección de vendedor: sale de la propia auditoría del sistema.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Estado del MVP, prueba por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Cinco en verde pleno · seis con el alcance declarado · dos presentadas como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57400"/>
          <a:ext cx="5349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/>
                <a:gridCol w="160477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 verde, sin matices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Búsqueda p95 &lt; 2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176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Cache con clave correcta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Campo sin dato = vacío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Paywall distinto del corte técnico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Costo por etapa y por usuario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2057400"/>
          <a:ext cx="51206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352"/>
                <a:gridCol w="230428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Alcanzado, con su límite dicho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Aislamiento entre cuentas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Por usuario, no por organización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Cada afirmación con su cita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A nivel de informe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Formulación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Sin motor de tendencias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Regulación con citas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Corpus acotado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Informe como trabajo en cola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PDF síncrono &lt; 15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Calibri"/>
                        </a:rPr>
                        <a:t>Presupuesto del agente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95057"/>
                          </a:solidFill>
                          <a:latin typeface="Calibri"/>
                        </a:rPr>
                        <a:t>Sin agente no hay gasto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89204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76F51"/>
                </a:solidFill>
                <a:latin typeface="Calibri"/>
              </a:rPr>
              <a:t>Presentadas como diseño, no como demo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12529"/>
                </a:solidFill>
                <a:latin typeface="Calibri"/>
              </a:rPr>
              <a:t>Motor de tendencias · agente web en vivo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89204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74C69D"/>
                </a:solidFill>
                <a:latin typeface="Calibri"/>
              </a:rPr>
              <a:t>Ninguna casilla se marca sola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Cada una tiene una prueba automática que la respalda.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Infraestructura: todo en Huawei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Región LA-Santiago · la base de datos sin salida a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Aplicación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1 servidor de 4 vCPU y 8 GB API, interfaz y buscador vectorial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488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Base de datos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PostgreSQL gestionado en red privada, con respaldo diario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B4332"/>
                </a:solidFill>
                <a:latin typeface="Calibri"/>
              </a:rPr>
              <a:t>Almacenamiento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B4332"/>
                </a:solidFill>
                <a:latin typeface="Calibri"/>
              </a:rPr>
              <a:t>Objeto para informes, snapshots y modelo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214884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Modelos de IA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ModelArts MaaS ya contratado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US$ 223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95057"/>
                </a:solidFill>
                <a:latin typeface="Calibri"/>
              </a:rPr>
              <a:t>costo mensual del piloto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US$ 0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95057"/>
                </a:solidFill>
                <a:latin typeface="Calibri"/>
              </a:rPr>
              <a:t>tráfico de entrada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&lt; 2 ms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95057"/>
                </a:solidFill>
                <a:latin typeface="Calibri"/>
              </a:rPr>
              <a:t>latencia a la base de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411480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B4332"/>
                </a:solidFill>
                <a:latin typeface="Calibri"/>
              </a:rPr>
              <a:t>7 días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95057"/>
                </a:solidFill>
                <a:latin typeface="Calibri"/>
              </a:rPr>
              <a:t>de respaldo con recuperación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495057"/>
                </a:solidFill>
                <a:latin typeface="Calibri"/>
              </a:rPr>
              <a:t>El dato del CITE no sale de la nube contratada: la base de datos solo tiene dirección privada.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Cuánto escala y cuánto cuesta escalar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El costo por usuario cae rápido: casi toda la factura es fija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03120"/>
          <a:ext cx="1078991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834"/>
                <a:gridCol w="1926771"/>
                <a:gridCol w="1926771"/>
                <a:gridCol w="1926771"/>
                <a:gridCol w="192677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Usuarios activos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Consultas/mes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Costo mensual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Costo por usuario</a:t>
                      </a:r>
                    </a:p>
                  </a:txBody>
                  <a:tcPr marL="73152" marR="73152" marT="27432" marB="27432" anchor="ctr">
                    <a:solidFill>
                      <a:srgbClr val="2D6A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Demo y ensayos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US$ 31,20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Piloto del CITE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529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529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529"/>
                          </a:solidFill>
                          <a:latin typeface="Calibri"/>
                        </a:rPr>
                        <a:t>US$ 223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US$ 7,43</a:t>
                      </a:r>
                    </a:p>
                  </a:txBody>
                  <a:tcPr marL="73152" marR="73152" marT="27432" marB="27432" anchor="ctr">
                    <a:solidFill>
                      <a:srgbClr val="DEE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Servicio institucional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2.500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529"/>
                          </a:solidFill>
                          <a:latin typeface="Calibri"/>
                        </a:rPr>
                        <a:t>US$ 791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US$ 3,17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2062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74C69D"/>
                </a:solidFill>
                <a:latin typeface="Calibri"/>
              </a:rPr>
              <a:t>Lo que limita no es la máquina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Un solo servidor sostiene del orden de miles de usuarios: una consulta pasa 25 segundos esperando al modelo y apenas 3 ocupando procesador.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76F51"/>
                </a:solidFill>
                <a:latin typeface="Calibri"/>
              </a:rPr>
              <a:t>Lo que limita es el presupuesto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12529"/>
                </a:solidFill>
                <a:latin typeface="Calibri"/>
              </a:rPr>
              <a:t>Y es una decisión, no un límite físico: subir el tope mensual amplía la capacidad de forma inmediata y con el costo conocido de antemano.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Actualización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Un ciclo trimestral, medido de principio a 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2,0 GB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se descargan del mercado mundial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2907792"/>
            <a:ext cx="274320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4,5 M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filas se leen y se filtran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9592" y="2907792"/>
            <a:ext cx="274320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2286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29.054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productos quedan para los 5 insumos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22792" y="2907792"/>
            <a:ext cx="274320" cy="329184"/>
          </a:xfrm>
          <a:prstGeom prst="rightArrow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5400" y="2286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10 min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B7E4C7"/>
                </a:solidFill>
                <a:latin typeface="Calibri"/>
              </a:rPr>
              <a:t>dura el ciclo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4332"/>
                </a:solidFill>
                <a:latin typeface="Calibri"/>
              </a:rPr>
              <a:t>Se retiene el 3 % de lo que se descarga, y el resto se descarta a propósito.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Cada snapshot queda versionado y firmado: la consulta que el CITE haga hoy se podrá reproducir dentro de un año con los mismos datos. Añadir insumos o subir la frecuencia son dos parámetros, y su costo está calculado.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4332"/>
                </a:solidFill>
                <a:latin typeface="Calibri"/>
              </a:rPr>
              <a:t>Lo que sigue, ya decidido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495057"/>
                </a:solidFill>
                <a:latin typeface="Calibri"/>
              </a:rPr>
              <a:t>No es una lista de ideas: está en los documentos de arquitectura, con su presupuesto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566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74C69D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3520440" cy="5029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Hoy ·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Cinco insumos con datos reales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Paywall y control de 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Informe con fuentes verificables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103120"/>
            <a:ext cx="3520440" cy="5029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3113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Fase 2 · Agente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Búsqueda en vivo del precio faltante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Cuarentena y verificación de origen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14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Presupuesto acotado por consulta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0312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3520440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3113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Fase 3 · Motor de tendencias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Taxonomía construida con el CITE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474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Series por trimestre y marcas nuevas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114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·  Reportes de tendencia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B4332"/>
                </a:solidFill>
                <a:latin typeface="Calibri"/>
              </a:rPr>
              <a:t>El orden importa: sin la taxonomía del CITE no hay motor de tendencias que valga.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Lo que pedimos al CITE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20240"/>
            <a:ext cx="3291840" cy="45720"/>
          </a:xfrm>
          <a:prstGeom prst="rect">
            <a:avLst/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3774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B433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39572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La taxonomía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61488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B7E4C7"/>
                </a:solidFill>
                <a:latin typeface="Calibri"/>
              </a:rPr>
              <a:t>Construirla juntos. Es el activo que ningún competidor puede copiar, y sin ella el motor de tendencias no existe.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5204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B433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53872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Los insumos prioritarios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904488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B7E4C7"/>
                </a:solidFill>
                <a:latin typeface="Calibri"/>
              </a:rPr>
              <a:t>Confirmar las cadenas de Chavimochic que entran después de las cinco actuales.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6634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B433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681727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El presupuesto del agente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047488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B7E4C7"/>
                </a:solidFill>
                <a:latin typeface="Calibri"/>
              </a:rPr>
              <a:t>Aprobar el tope de gasto para salir a buscar en vivo lo que las bases abiertas no tienen: el precio.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74C69D"/>
                </a:solidFill>
                <a:latin typeface="Calibri"/>
              </a:rPr>
              <a:t>AgroScout IA · CITEagroindustrial Chavimochic · agosto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